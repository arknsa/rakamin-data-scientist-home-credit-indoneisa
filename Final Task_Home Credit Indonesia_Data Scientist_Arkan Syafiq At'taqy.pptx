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Open Sauce Bold" charset="1" panose="00000800000000000000"/>
      <p:regular r:id="rId16"/>
    </p:embeddedFont>
    <p:embeddedFont>
      <p:font typeface="Open Sauce" charset="1" panose="00000500000000000000"/>
      <p:regular r:id="rId17"/>
    </p:embeddedFont>
    <p:embeddedFont>
      <p:font typeface="Poppins" charset="1" panose="00000500000000000000"/>
      <p:regular r:id="rId18"/>
    </p:embeddedFont>
    <p:embeddedFont>
      <p:font typeface="Poppins Bold" charset="1" panose="000008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https://github.com/arknsa/Rakamin-Data-Scientist-Home-Credit-Indoneisa" TargetMode="External" Type="http://schemas.openxmlformats.org/officeDocument/2006/relationships/hyperlink"/><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https://github.com/arknsa/Rakamin-Data-Scientist-Home-Credit-Indoneisa"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true" rot="0">
            <a:off x="-1830795" y="6371041"/>
            <a:ext cx="20657474" cy="6885825"/>
          </a:xfrm>
          <a:custGeom>
            <a:avLst/>
            <a:gdLst/>
            <a:ahLst/>
            <a:cxnLst/>
            <a:rect r="r" b="b" t="t" l="l"/>
            <a:pathLst>
              <a:path h="6885825" w="20657474">
                <a:moveTo>
                  <a:pt x="0" y="6885824"/>
                </a:moveTo>
                <a:lnTo>
                  <a:pt x="20657474" y="6885824"/>
                </a:lnTo>
                <a:lnTo>
                  <a:pt x="20657474" y="0"/>
                </a:lnTo>
                <a:lnTo>
                  <a:pt x="0" y="0"/>
                </a:lnTo>
                <a:lnTo>
                  <a:pt x="0" y="6885824"/>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84737" y="7430621"/>
            <a:ext cx="20657474" cy="6885825"/>
          </a:xfrm>
          <a:custGeom>
            <a:avLst/>
            <a:gdLst/>
            <a:ahLst/>
            <a:cxnLst/>
            <a:rect r="r" b="b" t="t" l="l"/>
            <a:pathLst>
              <a:path h="6885825" w="20657474">
                <a:moveTo>
                  <a:pt x="0" y="0"/>
                </a:moveTo>
                <a:lnTo>
                  <a:pt x="20657474" y="0"/>
                </a:lnTo>
                <a:lnTo>
                  <a:pt x="20657474" y="6885825"/>
                </a:lnTo>
                <a:lnTo>
                  <a:pt x="0" y="68858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1604809" y="5514025"/>
            <a:ext cx="6289260" cy="1697025"/>
            <a:chOff x="0" y="0"/>
            <a:chExt cx="1656431" cy="446953"/>
          </a:xfrm>
        </p:grpSpPr>
        <p:sp>
          <p:nvSpPr>
            <p:cNvPr name="Freeform 6" id="6"/>
            <p:cNvSpPr/>
            <p:nvPr/>
          </p:nvSpPr>
          <p:spPr>
            <a:xfrm flipH="false" flipV="false" rot="0">
              <a:off x="0" y="0"/>
              <a:ext cx="1656431" cy="446953"/>
            </a:xfrm>
            <a:custGeom>
              <a:avLst/>
              <a:gdLst/>
              <a:ahLst/>
              <a:cxnLst/>
              <a:rect r="r" b="b" t="t" l="l"/>
              <a:pathLst>
                <a:path h="446953" w="1656431">
                  <a:moveTo>
                    <a:pt x="123097" y="0"/>
                  </a:moveTo>
                  <a:lnTo>
                    <a:pt x="1533333" y="0"/>
                  </a:lnTo>
                  <a:cubicBezTo>
                    <a:pt x="1601318" y="0"/>
                    <a:pt x="1656431" y="55113"/>
                    <a:pt x="1656431" y="123097"/>
                  </a:cubicBezTo>
                  <a:lnTo>
                    <a:pt x="1656431" y="323856"/>
                  </a:lnTo>
                  <a:cubicBezTo>
                    <a:pt x="1656431" y="391841"/>
                    <a:pt x="1601318" y="446953"/>
                    <a:pt x="1533333" y="446953"/>
                  </a:cubicBezTo>
                  <a:lnTo>
                    <a:pt x="123097" y="446953"/>
                  </a:lnTo>
                  <a:cubicBezTo>
                    <a:pt x="55113" y="446953"/>
                    <a:pt x="0" y="391841"/>
                    <a:pt x="0" y="323856"/>
                  </a:cubicBezTo>
                  <a:lnTo>
                    <a:pt x="0" y="123097"/>
                  </a:lnTo>
                  <a:cubicBezTo>
                    <a:pt x="0" y="55113"/>
                    <a:pt x="55113" y="0"/>
                    <a:pt x="123097" y="0"/>
                  </a:cubicBezTo>
                  <a:close/>
                </a:path>
              </a:pathLst>
            </a:custGeom>
            <a:solidFill>
              <a:srgbClr val="9B2121"/>
            </a:solidFill>
            <a:ln w="38100" cap="rnd">
              <a:solidFill>
                <a:srgbClr val="9B2121"/>
              </a:solidFill>
              <a:prstDash val="solid"/>
              <a:round/>
            </a:ln>
          </p:spPr>
        </p:sp>
        <p:sp>
          <p:nvSpPr>
            <p:cNvPr name="TextBox 7" id="7"/>
            <p:cNvSpPr txBox="true"/>
            <p:nvPr/>
          </p:nvSpPr>
          <p:spPr>
            <a:xfrm>
              <a:off x="0" y="-47625"/>
              <a:ext cx="1656431" cy="494578"/>
            </a:xfrm>
            <a:prstGeom prst="rect">
              <a:avLst/>
            </a:prstGeom>
          </p:spPr>
          <p:txBody>
            <a:bodyPr anchor="ctr" rtlCol="false" tIns="50800" lIns="50800" bIns="50800" rIns="50800"/>
            <a:lstStyle/>
            <a:p>
              <a:pPr algn="ctr">
                <a:lnSpc>
                  <a:spcPts val="3120"/>
                </a:lnSpc>
              </a:pPr>
            </a:p>
          </p:txBody>
        </p:sp>
      </p:grpSp>
      <p:grpSp>
        <p:nvGrpSpPr>
          <p:cNvPr name="Group 8" id="8"/>
          <p:cNvGrpSpPr/>
          <p:nvPr/>
        </p:nvGrpSpPr>
        <p:grpSpPr>
          <a:xfrm rot="0">
            <a:off x="16616481" y="170735"/>
            <a:ext cx="1285638" cy="128563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138503" y="0"/>
                  </a:moveTo>
                  <a:lnTo>
                    <a:pt x="674297" y="0"/>
                  </a:lnTo>
                  <a:cubicBezTo>
                    <a:pt x="750790" y="0"/>
                    <a:pt x="812800" y="62010"/>
                    <a:pt x="812800" y="138503"/>
                  </a:cubicBezTo>
                  <a:lnTo>
                    <a:pt x="812800" y="674297"/>
                  </a:lnTo>
                  <a:cubicBezTo>
                    <a:pt x="812800" y="750790"/>
                    <a:pt x="750790" y="812800"/>
                    <a:pt x="674297" y="812800"/>
                  </a:cubicBezTo>
                  <a:lnTo>
                    <a:pt x="138503" y="812800"/>
                  </a:lnTo>
                  <a:cubicBezTo>
                    <a:pt x="62010" y="812800"/>
                    <a:pt x="0" y="750790"/>
                    <a:pt x="0" y="674297"/>
                  </a:cubicBezTo>
                  <a:lnTo>
                    <a:pt x="0" y="138503"/>
                  </a:lnTo>
                  <a:cubicBezTo>
                    <a:pt x="0" y="62010"/>
                    <a:pt x="62010" y="0"/>
                    <a:pt x="138503" y="0"/>
                  </a:cubicBezTo>
                  <a:close/>
                </a:path>
              </a:pathLst>
            </a:custGeom>
            <a:blipFill>
              <a:blip r:embed="rId7"/>
              <a:stretch>
                <a:fillRect l="-12597" t="0" r="-12597" b="0"/>
              </a:stretch>
            </a:blipFill>
          </p:spPr>
        </p:sp>
      </p:grpSp>
      <p:grpSp>
        <p:nvGrpSpPr>
          <p:cNvPr name="Group 10" id="10"/>
          <p:cNvGrpSpPr/>
          <p:nvPr/>
        </p:nvGrpSpPr>
        <p:grpSpPr>
          <a:xfrm rot="0">
            <a:off x="14143750" y="226297"/>
            <a:ext cx="2295844" cy="907813"/>
            <a:chOff x="0" y="0"/>
            <a:chExt cx="2055558" cy="812800"/>
          </a:xfrm>
        </p:grpSpPr>
        <p:sp>
          <p:nvSpPr>
            <p:cNvPr name="Freeform 11" id="11"/>
            <p:cNvSpPr/>
            <p:nvPr/>
          </p:nvSpPr>
          <p:spPr>
            <a:xfrm flipH="false" flipV="false" rot="0">
              <a:off x="0" y="0"/>
              <a:ext cx="2055558" cy="812800"/>
            </a:xfrm>
            <a:custGeom>
              <a:avLst/>
              <a:gdLst/>
              <a:ahLst/>
              <a:cxnLst/>
              <a:rect r="r" b="b" t="t" l="l"/>
              <a:pathLst>
                <a:path h="812800" w="2055558">
                  <a:moveTo>
                    <a:pt x="77559" y="0"/>
                  </a:moveTo>
                  <a:lnTo>
                    <a:pt x="1977998" y="0"/>
                  </a:lnTo>
                  <a:cubicBezTo>
                    <a:pt x="2020833" y="0"/>
                    <a:pt x="2055558" y="34725"/>
                    <a:pt x="2055558" y="77559"/>
                  </a:cubicBezTo>
                  <a:lnTo>
                    <a:pt x="2055558" y="735241"/>
                  </a:lnTo>
                  <a:cubicBezTo>
                    <a:pt x="2055558" y="778075"/>
                    <a:pt x="2020833" y="812800"/>
                    <a:pt x="1977998" y="812800"/>
                  </a:cubicBezTo>
                  <a:lnTo>
                    <a:pt x="77559" y="812800"/>
                  </a:lnTo>
                  <a:cubicBezTo>
                    <a:pt x="34725" y="812800"/>
                    <a:pt x="0" y="778075"/>
                    <a:pt x="0" y="735241"/>
                  </a:cubicBezTo>
                  <a:lnTo>
                    <a:pt x="0" y="77559"/>
                  </a:lnTo>
                  <a:cubicBezTo>
                    <a:pt x="0" y="34725"/>
                    <a:pt x="34725" y="0"/>
                    <a:pt x="77559" y="0"/>
                  </a:cubicBezTo>
                  <a:close/>
                </a:path>
              </a:pathLst>
            </a:custGeom>
            <a:blipFill>
              <a:blip r:embed="rId8"/>
              <a:stretch>
                <a:fillRect l="-371" t="0" r="-371" b="0"/>
              </a:stretch>
            </a:blipFill>
          </p:spPr>
        </p:sp>
      </p:grpSp>
      <p:sp>
        <p:nvSpPr>
          <p:cNvPr name="TextBox 12" id="12"/>
          <p:cNvSpPr txBox="true"/>
          <p:nvPr/>
        </p:nvSpPr>
        <p:spPr>
          <a:xfrm rot="0">
            <a:off x="1604809" y="2098211"/>
            <a:ext cx="13211274" cy="3076575"/>
          </a:xfrm>
          <a:prstGeom prst="rect">
            <a:avLst/>
          </a:prstGeom>
        </p:spPr>
        <p:txBody>
          <a:bodyPr anchor="t" rtlCol="false" tIns="0" lIns="0" bIns="0" rIns="0">
            <a:spAutoFit/>
          </a:bodyPr>
          <a:lstStyle/>
          <a:p>
            <a:pPr algn="l">
              <a:lnSpc>
                <a:spcPts val="8160"/>
              </a:lnSpc>
            </a:pPr>
            <a:r>
              <a:rPr lang="en-US" sz="6800" b="true">
                <a:solidFill>
                  <a:srgbClr val="9B2121"/>
                </a:solidFill>
                <a:latin typeface="Open Sauce Bold"/>
                <a:ea typeface="Open Sauce Bold"/>
                <a:cs typeface="Open Sauce Bold"/>
                <a:sym typeface="Open Sauce Bold"/>
              </a:rPr>
              <a:t>MODEL PREDIKSI RISIKO PEMBAYARAN PINJAMAN </a:t>
            </a:r>
          </a:p>
          <a:p>
            <a:pPr algn="l">
              <a:lnSpc>
                <a:spcPts val="8160"/>
              </a:lnSpc>
            </a:pPr>
            <a:r>
              <a:rPr lang="en-US" sz="6800" b="true">
                <a:solidFill>
                  <a:srgbClr val="9B2121"/>
                </a:solidFill>
                <a:latin typeface="Open Sauce Bold"/>
                <a:ea typeface="Open Sauce Bold"/>
                <a:cs typeface="Open Sauce Bold"/>
                <a:sym typeface="Open Sauce Bold"/>
              </a:rPr>
              <a:t>DI HOME CREDIT INDONESIA</a:t>
            </a:r>
          </a:p>
        </p:txBody>
      </p:sp>
      <p:sp>
        <p:nvSpPr>
          <p:cNvPr name="TextBox 13" id="13"/>
          <p:cNvSpPr txBox="true"/>
          <p:nvPr/>
        </p:nvSpPr>
        <p:spPr>
          <a:xfrm rot="0">
            <a:off x="1604809" y="1219835"/>
            <a:ext cx="7959966" cy="669925"/>
          </a:xfrm>
          <a:prstGeom prst="rect">
            <a:avLst/>
          </a:prstGeom>
        </p:spPr>
        <p:txBody>
          <a:bodyPr anchor="t" rtlCol="false" tIns="0" lIns="0" bIns="0" rIns="0">
            <a:spAutoFit/>
          </a:bodyPr>
          <a:lstStyle/>
          <a:p>
            <a:pPr algn="l">
              <a:lnSpc>
                <a:spcPts val="5000"/>
              </a:lnSpc>
            </a:pPr>
            <a:r>
              <a:rPr lang="en-US" sz="5000">
                <a:solidFill>
                  <a:srgbClr val="9B2121"/>
                </a:solidFill>
                <a:latin typeface="Open Sauce"/>
                <a:ea typeface="Open Sauce"/>
                <a:cs typeface="Open Sauce"/>
                <a:sym typeface="Open Sauce"/>
              </a:rPr>
              <a:t>ARKAN SYAFIQ AT’TAQY</a:t>
            </a:r>
          </a:p>
        </p:txBody>
      </p:sp>
      <p:sp>
        <p:nvSpPr>
          <p:cNvPr name="TextBox 14" id="14"/>
          <p:cNvSpPr txBox="true"/>
          <p:nvPr/>
        </p:nvSpPr>
        <p:spPr>
          <a:xfrm rot="0">
            <a:off x="1781677" y="5810336"/>
            <a:ext cx="5935525" cy="1064260"/>
          </a:xfrm>
          <a:prstGeom prst="rect">
            <a:avLst/>
          </a:prstGeom>
        </p:spPr>
        <p:txBody>
          <a:bodyPr anchor="t" rtlCol="false" tIns="0" lIns="0" bIns="0" rIns="0">
            <a:spAutoFit/>
          </a:bodyPr>
          <a:lstStyle/>
          <a:p>
            <a:pPr algn="ctr">
              <a:lnSpc>
                <a:spcPts val="4160"/>
              </a:lnSpc>
            </a:pPr>
            <a:r>
              <a:rPr lang="en-US" sz="3200">
                <a:solidFill>
                  <a:srgbClr val="FFFFFF"/>
                </a:solidFill>
                <a:latin typeface="Poppins"/>
                <a:ea typeface="Poppins"/>
                <a:cs typeface="Poppins"/>
                <a:sym typeface="Poppins"/>
              </a:rPr>
              <a:t>PROJECT-BASED INTERNSHIP BY RAKAMIN ACADEMY</a:t>
            </a:r>
          </a:p>
        </p:txBody>
      </p:sp>
      <p:grpSp>
        <p:nvGrpSpPr>
          <p:cNvPr name="Group 15" id="15"/>
          <p:cNvGrpSpPr/>
          <p:nvPr/>
        </p:nvGrpSpPr>
        <p:grpSpPr>
          <a:xfrm rot="0">
            <a:off x="10327221" y="5454191"/>
            <a:ext cx="6289260" cy="1697025"/>
            <a:chOff x="0" y="0"/>
            <a:chExt cx="1656431" cy="446953"/>
          </a:xfrm>
        </p:grpSpPr>
        <p:sp>
          <p:nvSpPr>
            <p:cNvPr name="Freeform 16" id="16"/>
            <p:cNvSpPr/>
            <p:nvPr/>
          </p:nvSpPr>
          <p:spPr>
            <a:xfrm flipH="false" flipV="false" rot="0">
              <a:off x="0" y="0"/>
              <a:ext cx="1656431" cy="446953"/>
            </a:xfrm>
            <a:custGeom>
              <a:avLst/>
              <a:gdLst/>
              <a:ahLst/>
              <a:cxnLst/>
              <a:rect r="r" b="b" t="t" l="l"/>
              <a:pathLst>
                <a:path h="446953" w="1656431">
                  <a:moveTo>
                    <a:pt x="123097" y="0"/>
                  </a:moveTo>
                  <a:lnTo>
                    <a:pt x="1533333" y="0"/>
                  </a:lnTo>
                  <a:cubicBezTo>
                    <a:pt x="1601318" y="0"/>
                    <a:pt x="1656431" y="55113"/>
                    <a:pt x="1656431" y="123097"/>
                  </a:cubicBezTo>
                  <a:lnTo>
                    <a:pt x="1656431" y="323856"/>
                  </a:lnTo>
                  <a:cubicBezTo>
                    <a:pt x="1656431" y="391841"/>
                    <a:pt x="1601318" y="446953"/>
                    <a:pt x="1533333" y="446953"/>
                  </a:cubicBezTo>
                  <a:lnTo>
                    <a:pt x="123097" y="446953"/>
                  </a:lnTo>
                  <a:cubicBezTo>
                    <a:pt x="55113" y="446953"/>
                    <a:pt x="0" y="391841"/>
                    <a:pt x="0" y="323856"/>
                  </a:cubicBezTo>
                  <a:lnTo>
                    <a:pt x="0" y="123097"/>
                  </a:lnTo>
                  <a:cubicBezTo>
                    <a:pt x="0" y="55113"/>
                    <a:pt x="55113" y="0"/>
                    <a:pt x="123097" y="0"/>
                  </a:cubicBezTo>
                  <a:close/>
                </a:path>
              </a:pathLst>
            </a:custGeom>
            <a:solidFill>
              <a:srgbClr val="9B2121"/>
            </a:solidFill>
            <a:ln w="38100" cap="rnd">
              <a:solidFill>
                <a:srgbClr val="9B2121"/>
              </a:solidFill>
              <a:prstDash val="solid"/>
              <a:round/>
            </a:ln>
          </p:spPr>
        </p:sp>
        <p:sp>
          <p:nvSpPr>
            <p:cNvPr name="TextBox 17" id="17"/>
            <p:cNvSpPr txBox="true"/>
            <p:nvPr/>
          </p:nvSpPr>
          <p:spPr>
            <a:xfrm>
              <a:off x="0" y="-47625"/>
              <a:ext cx="1656431" cy="494578"/>
            </a:xfrm>
            <a:prstGeom prst="rect">
              <a:avLst/>
            </a:prstGeom>
          </p:spPr>
          <p:txBody>
            <a:bodyPr anchor="ctr" rtlCol="false" tIns="50800" lIns="50800" bIns="50800" rIns="50800"/>
            <a:lstStyle/>
            <a:p>
              <a:pPr algn="ctr">
                <a:lnSpc>
                  <a:spcPts val="3120"/>
                </a:lnSpc>
              </a:pPr>
            </a:p>
          </p:txBody>
        </p:sp>
      </p:grpSp>
      <p:sp>
        <p:nvSpPr>
          <p:cNvPr name="TextBox 18" id="18"/>
          <p:cNvSpPr txBox="true"/>
          <p:nvPr/>
        </p:nvSpPr>
        <p:spPr>
          <a:xfrm rot="0">
            <a:off x="10504088" y="5470536"/>
            <a:ext cx="5935525" cy="1588135"/>
          </a:xfrm>
          <a:prstGeom prst="rect">
            <a:avLst/>
          </a:prstGeom>
        </p:spPr>
        <p:txBody>
          <a:bodyPr anchor="t" rtlCol="false" tIns="0" lIns="0" bIns="0" rIns="0">
            <a:spAutoFit/>
          </a:bodyPr>
          <a:lstStyle/>
          <a:p>
            <a:pPr algn="ctr">
              <a:lnSpc>
                <a:spcPts val="4160"/>
              </a:lnSpc>
            </a:pPr>
            <a:r>
              <a:rPr lang="en-US" sz="3200">
                <a:solidFill>
                  <a:srgbClr val="FFFFFF"/>
                </a:solidFill>
                <a:latin typeface="Poppins"/>
                <a:ea typeface="Poppins"/>
                <a:cs typeface="Poppins"/>
                <a:sym typeface="Poppins"/>
              </a:rPr>
              <a:t>GitHub Repository:</a:t>
            </a:r>
          </a:p>
          <a:p>
            <a:pPr algn="ctr">
              <a:lnSpc>
                <a:spcPts val="4160"/>
              </a:lnSpc>
            </a:pPr>
            <a:r>
              <a:rPr lang="en-US" sz="3200" u="sng">
                <a:solidFill>
                  <a:srgbClr val="FFFFFF"/>
                </a:solidFill>
                <a:latin typeface="Poppins"/>
                <a:ea typeface="Poppins"/>
                <a:cs typeface="Poppins"/>
                <a:sym typeface="Poppins"/>
                <a:hlinkClick r:id="rId9" tooltip="https://github.com/arknsa/Rakamin-Data-Scientist-Home-Credit-Indoneisa"/>
              </a:rPr>
              <a:t>Data Scientist</a:t>
            </a:r>
          </a:p>
          <a:p>
            <a:pPr algn="ctr">
              <a:lnSpc>
                <a:spcPts val="4160"/>
              </a:lnSpc>
            </a:pPr>
            <a:r>
              <a:rPr lang="en-US" sz="3200" u="sng">
                <a:solidFill>
                  <a:srgbClr val="FFFFFF"/>
                </a:solidFill>
                <a:latin typeface="Poppins"/>
                <a:ea typeface="Poppins"/>
                <a:cs typeface="Poppins"/>
                <a:sym typeface="Poppins"/>
                <a:hlinkClick r:id="rId10" tooltip="https://github.com/arknsa/Rakamin-Data-Scientist-Home-Credit-Indoneisa"/>
              </a:rPr>
              <a:t>Home Credit Indonesia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5400000">
            <a:off x="3887299" y="5099579"/>
            <a:ext cx="20657474" cy="6885825"/>
          </a:xfrm>
          <a:custGeom>
            <a:avLst/>
            <a:gdLst/>
            <a:ahLst/>
            <a:cxnLst/>
            <a:rect r="r" b="b" t="t" l="l"/>
            <a:pathLst>
              <a:path h="6885825" w="20657474">
                <a:moveTo>
                  <a:pt x="0" y="0"/>
                </a:moveTo>
                <a:lnTo>
                  <a:pt x="20657474" y="0"/>
                </a:lnTo>
                <a:lnTo>
                  <a:pt x="20657474" y="6885825"/>
                </a:lnTo>
                <a:lnTo>
                  <a:pt x="0" y="68858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019175"/>
            <a:ext cx="11007177" cy="1228725"/>
          </a:xfrm>
          <a:prstGeom prst="rect">
            <a:avLst/>
          </a:prstGeom>
        </p:spPr>
        <p:txBody>
          <a:bodyPr anchor="t" rtlCol="false" tIns="0" lIns="0" bIns="0" rIns="0">
            <a:spAutoFit/>
          </a:bodyPr>
          <a:lstStyle/>
          <a:p>
            <a:pPr algn="l">
              <a:lnSpc>
                <a:spcPts val="9600"/>
              </a:lnSpc>
            </a:pPr>
            <a:r>
              <a:rPr lang="en-US" sz="8000">
                <a:solidFill>
                  <a:srgbClr val="9B2121"/>
                </a:solidFill>
                <a:latin typeface="Open Sauce"/>
                <a:ea typeface="Open Sauce"/>
                <a:cs typeface="Open Sauce"/>
                <a:sym typeface="Open Sauce"/>
              </a:rPr>
              <a:t>Tentang Perusahaan</a:t>
            </a:r>
          </a:p>
        </p:txBody>
      </p:sp>
      <p:sp>
        <p:nvSpPr>
          <p:cNvPr name="TextBox 5" id="5"/>
          <p:cNvSpPr txBox="true"/>
          <p:nvPr/>
        </p:nvSpPr>
        <p:spPr>
          <a:xfrm rot="0">
            <a:off x="1019175" y="3158107"/>
            <a:ext cx="6964934" cy="554354"/>
          </a:xfrm>
          <a:prstGeom prst="rect">
            <a:avLst/>
          </a:prstGeom>
        </p:spPr>
        <p:txBody>
          <a:bodyPr anchor="t" rtlCol="false" tIns="0" lIns="0" bIns="0" rIns="0">
            <a:spAutoFit/>
          </a:bodyPr>
          <a:lstStyle/>
          <a:p>
            <a:pPr algn="l">
              <a:lnSpc>
                <a:spcPts val="4199"/>
              </a:lnSpc>
            </a:pPr>
            <a:r>
              <a:rPr lang="en-US" sz="4199" b="true">
                <a:solidFill>
                  <a:srgbClr val="9B2121"/>
                </a:solidFill>
                <a:latin typeface="Open Sauce Bold"/>
                <a:ea typeface="Open Sauce Bold"/>
                <a:cs typeface="Open Sauce Bold"/>
                <a:sym typeface="Open Sauce Bold"/>
              </a:rPr>
              <a:t>Home Credit Indonesia</a:t>
            </a:r>
          </a:p>
        </p:txBody>
      </p:sp>
      <p:sp>
        <p:nvSpPr>
          <p:cNvPr name="TextBox 6" id="6"/>
          <p:cNvSpPr txBox="true"/>
          <p:nvPr/>
        </p:nvSpPr>
        <p:spPr>
          <a:xfrm rot="0">
            <a:off x="1028700" y="3879718"/>
            <a:ext cx="11607446" cy="3434080"/>
          </a:xfrm>
          <a:prstGeom prst="rect">
            <a:avLst/>
          </a:prstGeom>
        </p:spPr>
        <p:txBody>
          <a:bodyPr anchor="t" rtlCol="false" tIns="0" lIns="0" bIns="0" rIns="0">
            <a:spAutoFit/>
          </a:bodyPr>
          <a:lstStyle/>
          <a:p>
            <a:pPr algn="just">
              <a:lnSpc>
                <a:spcPts val="3380"/>
              </a:lnSpc>
            </a:pPr>
            <a:r>
              <a:rPr lang="en-US" sz="2600">
                <a:solidFill>
                  <a:srgbClr val="9B2121"/>
                </a:solidFill>
                <a:latin typeface="Poppins"/>
                <a:ea typeface="Poppins"/>
                <a:cs typeface="Poppins"/>
                <a:sym typeface="Poppins"/>
              </a:rPr>
              <a:t>Home Credit Indonesia adalah perusahaan fintech yang menyediakan produk pinjaman konsumen untuk memenuhi kebutuhan masyarakat. Perusahaan ini menggunakan teknologi dan data untuk menilai risiko kredit dan membantu masyarakat mendapatkan akses ke pinjaman dengan cara yang cepat dan aman. Sebagai bagian dari Home Credit Indonesia, proyek ini bertujuan untuk mengembangkan model machine learning yang dapat memprediksi kemungkinan kesulitan pembayaran pinjaman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TextBox 3" id="3"/>
          <p:cNvSpPr txBox="true"/>
          <p:nvPr/>
        </p:nvSpPr>
        <p:spPr>
          <a:xfrm rot="0">
            <a:off x="4418584" y="1019175"/>
            <a:ext cx="9450833" cy="1228725"/>
          </a:xfrm>
          <a:prstGeom prst="rect">
            <a:avLst/>
          </a:prstGeom>
        </p:spPr>
        <p:txBody>
          <a:bodyPr anchor="t" rtlCol="false" tIns="0" lIns="0" bIns="0" rIns="0">
            <a:spAutoFit/>
          </a:bodyPr>
          <a:lstStyle/>
          <a:p>
            <a:pPr algn="ctr">
              <a:lnSpc>
                <a:spcPts val="9600"/>
              </a:lnSpc>
            </a:pPr>
            <a:r>
              <a:rPr lang="en-US" sz="8000">
                <a:solidFill>
                  <a:srgbClr val="9B2121"/>
                </a:solidFill>
                <a:latin typeface="Open Sauce"/>
                <a:ea typeface="Open Sauce"/>
                <a:cs typeface="Open Sauce"/>
                <a:sym typeface="Open Sauce"/>
              </a:rPr>
              <a:t>Latar Belakang</a:t>
            </a:r>
          </a:p>
        </p:txBody>
      </p:sp>
      <p:sp>
        <p:nvSpPr>
          <p:cNvPr name="TextBox 4" id="4"/>
          <p:cNvSpPr txBox="true"/>
          <p:nvPr/>
        </p:nvSpPr>
        <p:spPr>
          <a:xfrm rot="0">
            <a:off x="1028700" y="2521478"/>
            <a:ext cx="15637075" cy="6863080"/>
          </a:xfrm>
          <a:prstGeom prst="rect">
            <a:avLst/>
          </a:prstGeom>
        </p:spPr>
        <p:txBody>
          <a:bodyPr anchor="t" rtlCol="false" tIns="0" lIns="0" bIns="0" rIns="0">
            <a:spAutoFit/>
          </a:bodyPr>
          <a:lstStyle/>
          <a:p>
            <a:pPr algn="just">
              <a:lnSpc>
                <a:spcPts val="3380"/>
              </a:lnSpc>
            </a:pPr>
            <a:r>
              <a:rPr lang="en-US" sz="2600">
                <a:solidFill>
                  <a:srgbClr val="9B2121"/>
                </a:solidFill>
                <a:latin typeface="Poppins"/>
                <a:ea typeface="Poppins"/>
                <a:cs typeface="Poppins"/>
                <a:sym typeface="Poppins"/>
              </a:rPr>
              <a:t>Dalam dunia finansial, risiko kredit adalah salah satu aspek yang sangat penting bagi lembaga keuangan seperti Home Credit Indonesia. Memahami dan memprediksi kemungkinan pemohon pinjaman mengalami kesulitan dalam membayar adalah hal yang krusial untuk meminimalisir kerugian. Oleh karena itu, kemampuan untuk mengembangkan model yang dapat memprediksi risiko gagal bayar pinjaman menjadi sangat vital. Proyek ini bertujuan untuk menciptakan model machine learning yang dapat memprediksi apakah seorang pemohon pinjaman akan menghadapi kesulitan dalam membayar kewajiban pinjamannya berdasarkan data historis yang dimiliki perusahaan.</a:t>
            </a:r>
          </a:p>
          <a:p>
            <a:pPr algn="just">
              <a:lnSpc>
                <a:spcPts val="3380"/>
              </a:lnSpc>
            </a:pPr>
          </a:p>
          <a:p>
            <a:pPr algn="just">
              <a:lnSpc>
                <a:spcPts val="3380"/>
              </a:lnSpc>
            </a:pPr>
            <a:r>
              <a:rPr lang="en-US" sz="2600">
                <a:solidFill>
                  <a:srgbClr val="9B2121"/>
                </a:solidFill>
                <a:latin typeface="Poppins"/>
                <a:ea typeface="Poppins"/>
                <a:cs typeface="Poppins"/>
                <a:sym typeface="Poppins"/>
              </a:rPr>
              <a:t>Dengan menerapkan teknik data science yang tepat, perusahaan dapat mengoptimalkan kebijakan pinjaman, serta mengurangi potensi kerugian yang disebabkan oleh peminjam yang tidak mampu membayar. Namun, salah satu tantangan terbesar dalam proyek ini adalah ketidakseimbangan kelas dalam data, di mana jumlah pemohon pinjaman yang mengalami kesulitan pembayaran jauh lebih sedikit dibandingkan dengan yang tidak. Oleh karena itu, model yang dibangun harus dapat secara efektif menangani ketidakseimbangan kelas ini untuk memastikan hasil prediksi yang akurat dan dapat diandalkan.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TextBox 3" id="3"/>
          <p:cNvSpPr txBox="true"/>
          <p:nvPr/>
        </p:nvSpPr>
        <p:spPr>
          <a:xfrm rot="0">
            <a:off x="4418584" y="1019175"/>
            <a:ext cx="9450833" cy="1228725"/>
          </a:xfrm>
          <a:prstGeom prst="rect">
            <a:avLst/>
          </a:prstGeom>
        </p:spPr>
        <p:txBody>
          <a:bodyPr anchor="t" rtlCol="false" tIns="0" lIns="0" bIns="0" rIns="0">
            <a:spAutoFit/>
          </a:bodyPr>
          <a:lstStyle/>
          <a:p>
            <a:pPr algn="ctr">
              <a:lnSpc>
                <a:spcPts val="9600"/>
              </a:lnSpc>
            </a:pPr>
            <a:r>
              <a:rPr lang="en-US" sz="8000">
                <a:solidFill>
                  <a:srgbClr val="9B2121"/>
                </a:solidFill>
                <a:latin typeface="Open Sauce"/>
                <a:ea typeface="Open Sauce"/>
                <a:cs typeface="Open Sauce"/>
                <a:sym typeface="Open Sauce"/>
              </a:rPr>
              <a:t>Portofolio Proyek</a:t>
            </a:r>
          </a:p>
        </p:txBody>
      </p:sp>
      <p:sp>
        <p:nvSpPr>
          <p:cNvPr name="TextBox 4" id="4"/>
          <p:cNvSpPr txBox="true"/>
          <p:nvPr/>
        </p:nvSpPr>
        <p:spPr>
          <a:xfrm rot="0">
            <a:off x="1028700" y="2692268"/>
            <a:ext cx="15637075" cy="2148205"/>
          </a:xfrm>
          <a:prstGeom prst="rect">
            <a:avLst/>
          </a:prstGeom>
        </p:spPr>
        <p:txBody>
          <a:bodyPr anchor="t" rtlCol="false" tIns="0" lIns="0" bIns="0" rIns="0">
            <a:spAutoFit/>
          </a:bodyPr>
          <a:lstStyle/>
          <a:p>
            <a:pPr algn="just">
              <a:lnSpc>
                <a:spcPts val="3380"/>
              </a:lnSpc>
            </a:pPr>
            <a:r>
              <a:rPr lang="en-US" sz="2600">
                <a:solidFill>
                  <a:srgbClr val="9B2121"/>
                </a:solidFill>
                <a:latin typeface="Poppins"/>
                <a:ea typeface="Poppins"/>
                <a:cs typeface="Poppins"/>
                <a:sym typeface="Poppins"/>
              </a:rPr>
              <a:t>Pada Home Credit Indonesia, saya terlibat dalam sebuah proyek untuk mengembangkan model prediksi risiko gagal bayar pinjaman menggunakan teknik machine learning. Proyek ini bertujuan untuk meningkatkan kemampuan perusahaan dalam memprediksi apakah pemohon pinjaman akan menghadapi kesulitan dalam membayar pinjaman berdasarkan data historis yang tersedia.</a:t>
            </a:r>
          </a:p>
        </p:txBody>
      </p:sp>
      <p:grpSp>
        <p:nvGrpSpPr>
          <p:cNvPr name="Group 5" id="5"/>
          <p:cNvGrpSpPr/>
          <p:nvPr/>
        </p:nvGrpSpPr>
        <p:grpSpPr>
          <a:xfrm rot="0">
            <a:off x="1028700" y="5326248"/>
            <a:ext cx="4628807" cy="4476069"/>
            <a:chOff x="0" y="0"/>
            <a:chExt cx="1219110" cy="1178882"/>
          </a:xfrm>
        </p:grpSpPr>
        <p:sp>
          <p:nvSpPr>
            <p:cNvPr name="Freeform 6" id="6"/>
            <p:cNvSpPr/>
            <p:nvPr/>
          </p:nvSpPr>
          <p:spPr>
            <a:xfrm flipH="false" flipV="false" rot="0">
              <a:off x="0" y="0"/>
              <a:ext cx="1219110" cy="1178882"/>
            </a:xfrm>
            <a:custGeom>
              <a:avLst/>
              <a:gdLst/>
              <a:ahLst/>
              <a:cxnLst/>
              <a:rect r="r" b="b" t="t" l="l"/>
              <a:pathLst>
                <a:path h="1178882" w="1219110">
                  <a:moveTo>
                    <a:pt x="50177" y="0"/>
                  </a:moveTo>
                  <a:lnTo>
                    <a:pt x="1168933" y="0"/>
                  </a:lnTo>
                  <a:cubicBezTo>
                    <a:pt x="1196645" y="0"/>
                    <a:pt x="1219110" y="22465"/>
                    <a:pt x="1219110" y="50177"/>
                  </a:cubicBezTo>
                  <a:lnTo>
                    <a:pt x="1219110" y="1128706"/>
                  </a:lnTo>
                  <a:cubicBezTo>
                    <a:pt x="1219110" y="1156418"/>
                    <a:pt x="1196645" y="1178882"/>
                    <a:pt x="1168933" y="1178882"/>
                  </a:cubicBezTo>
                  <a:lnTo>
                    <a:pt x="50177" y="1178882"/>
                  </a:lnTo>
                  <a:cubicBezTo>
                    <a:pt x="22465" y="1178882"/>
                    <a:pt x="0" y="1156418"/>
                    <a:pt x="0" y="1128706"/>
                  </a:cubicBezTo>
                  <a:lnTo>
                    <a:pt x="0" y="50177"/>
                  </a:lnTo>
                  <a:cubicBezTo>
                    <a:pt x="0" y="22465"/>
                    <a:pt x="22465" y="0"/>
                    <a:pt x="50177" y="0"/>
                  </a:cubicBezTo>
                  <a:close/>
                </a:path>
              </a:pathLst>
            </a:custGeom>
            <a:solidFill>
              <a:srgbClr val="9B2121"/>
            </a:solidFill>
            <a:ln w="38100" cap="rnd">
              <a:solidFill>
                <a:srgbClr val="9B2121"/>
              </a:solidFill>
              <a:prstDash val="solid"/>
              <a:round/>
            </a:ln>
          </p:spPr>
        </p:sp>
        <p:sp>
          <p:nvSpPr>
            <p:cNvPr name="TextBox 7" id="7"/>
            <p:cNvSpPr txBox="true"/>
            <p:nvPr/>
          </p:nvSpPr>
          <p:spPr>
            <a:xfrm>
              <a:off x="0" y="-47625"/>
              <a:ext cx="1219110" cy="1226507"/>
            </a:xfrm>
            <a:prstGeom prst="rect">
              <a:avLst/>
            </a:prstGeom>
          </p:spPr>
          <p:txBody>
            <a:bodyPr anchor="ctr" rtlCol="false" tIns="50800" lIns="50800" bIns="50800" rIns="50800"/>
            <a:lstStyle/>
            <a:p>
              <a:pPr algn="ctr">
                <a:lnSpc>
                  <a:spcPts val="3120"/>
                </a:lnSpc>
              </a:pPr>
            </a:p>
          </p:txBody>
        </p:sp>
      </p:grpSp>
      <p:sp>
        <p:nvSpPr>
          <p:cNvPr name="TextBox 8" id="8"/>
          <p:cNvSpPr txBox="true"/>
          <p:nvPr/>
        </p:nvSpPr>
        <p:spPr>
          <a:xfrm rot="0">
            <a:off x="2511344" y="5511698"/>
            <a:ext cx="1663520" cy="530225"/>
          </a:xfrm>
          <a:prstGeom prst="rect">
            <a:avLst/>
          </a:prstGeom>
        </p:spPr>
        <p:txBody>
          <a:bodyPr anchor="t" rtlCol="false" tIns="0" lIns="0" bIns="0" rIns="0">
            <a:spAutoFit/>
          </a:bodyPr>
          <a:lstStyle/>
          <a:p>
            <a:pPr algn="ctr">
              <a:lnSpc>
                <a:spcPts val="3999"/>
              </a:lnSpc>
            </a:pPr>
            <a:r>
              <a:rPr lang="en-US" sz="3999" b="true">
                <a:solidFill>
                  <a:srgbClr val="FFFFFF"/>
                </a:solidFill>
                <a:latin typeface="Open Sauce Bold"/>
                <a:ea typeface="Open Sauce Bold"/>
                <a:cs typeface="Open Sauce Bold"/>
                <a:sym typeface="Open Sauce Bold"/>
              </a:rPr>
              <a:t>Goals</a:t>
            </a:r>
          </a:p>
        </p:txBody>
      </p:sp>
      <p:grpSp>
        <p:nvGrpSpPr>
          <p:cNvPr name="Group 9" id="9"/>
          <p:cNvGrpSpPr/>
          <p:nvPr/>
        </p:nvGrpSpPr>
        <p:grpSpPr>
          <a:xfrm rot="0">
            <a:off x="6829596" y="5326248"/>
            <a:ext cx="4628807" cy="4476069"/>
            <a:chOff x="0" y="0"/>
            <a:chExt cx="1219110" cy="1178882"/>
          </a:xfrm>
        </p:grpSpPr>
        <p:sp>
          <p:nvSpPr>
            <p:cNvPr name="Freeform 10" id="10"/>
            <p:cNvSpPr/>
            <p:nvPr/>
          </p:nvSpPr>
          <p:spPr>
            <a:xfrm flipH="false" flipV="false" rot="0">
              <a:off x="0" y="0"/>
              <a:ext cx="1219110" cy="1178882"/>
            </a:xfrm>
            <a:custGeom>
              <a:avLst/>
              <a:gdLst/>
              <a:ahLst/>
              <a:cxnLst/>
              <a:rect r="r" b="b" t="t" l="l"/>
              <a:pathLst>
                <a:path h="1178882" w="1219110">
                  <a:moveTo>
                    <a:pt x="50177" y="0"/>
                  </a:moveTo>
                  <a:lnTo>
                    <a:pt x="1168933" y="0"/>
                  </a:lnTo>
                  <a:cubicBezTo>
                    <a:pt x="1196645" y="0"/>
                    <a:pt x="1219110" y="22465"/>
                    <a:pt x="1219110" y="50177"/>
                  </a:cubicBezTo>
                  <a:lnTo>
                    <a:pt x="1219110" y="1128706"/>
                  </a:lnTo>
                  <a:cubicBezTo>
                    <a:pt x="1219110" y="1156418"/>
                    <a:pt x="1196645" y="1178882"/>
                    <a:pt x="1168933" y="1178882"/>
                  </a:cubicBezTo>
                  <a:lnTo>
                    <a:pt x="50177" y="1178882"/>
                  </a:lnTo>
                  <a:cubicBezTo>
                    <a:pt x="22465" y="1178882"/>
                    <a:pt x="0" y="1156418"/>
                    <a:pt x="0" y="1128706"/>
                  </a:cubicBezTo>
                  <a:lnTo>
                    <a:pt x="0" y="50177"/>
                  </a:lnTo>
                  <a:cubicBezTo>
                    <a:pt x="0" y="22465"/>
                    <a:pt x="22465" y="0"/>
                    <a:pt x="50177" y="0"/>
                  </a:cubicBezTo>
                  <a:close/>
                </a:path>
              </a:pathLst>
            </a:custGeom>
            <a:solidFill>
              <a:srgbClr val="9B2121"/>
            </a:solidFill>
            <a:ln w="38100" cap="rnd">
              <a:solidFill>
                <a:srgbClr val="9B2121"/>
              </a:solidFill>
              <a:prstDash val="solid"/>
              <a:round/>
            </a:ln>
          </p:spPr>
        </p:sp>
        <p:sp>
          <p:nvSpPr>
            <p:cNvPr name="TextBox 11" id="11"/>
            <p:cNvSpPr txBox="true"/>
            <p:nvPr/>
          </p:nvSpPr>
          <p:spPr>
            <a:xfrm>
              <a:off x="0" y="-47625"/>
              <a:ext cx="1219110" cy="1226507"/>
            </a:xfrm>
            <a:prstGeom prst="rect">
              <a:avLst/>
            </a:prstGeom>
          </p:spPr>
          <p:txBody>
            <a:bodyPr anchor="ctr" rtlCol="false" tIns="50800" lIns="50800" bIns="50800" rIns="50800"/>
            <a:lstStyle/>
            <a:p>
              <a:pPr algn="ctr">
                <a:lnSpc>
                  <a:spcPts val="3120"/>
                </a:lnSpc>
              </a:pPr>
            </a:p>
          </p:txBody>
        </p:sp>
      </p:grpSp>
      <p:sp>
        <p:nvSpPr>
          <p:cNvPr name="TextBox 12" id="12"/>
          <p:cNvSpPr txBox="true"/>
          <p:nvPr/>
        </p:nvSpPr>
        <p:spPr>
          <a:xfrm rot="0">
            <a:off x="7911453" y="5511698"/>
            <a:ext cx="2465094" cy="530225"/>
          </a:xfrm>
          <a:prstGeom prst="rect">
            <a:avLst/>
          </a:prstGeom>
        </p:spPr>
        <p:txBody>
          <a:bodyPr anchor="t" rtlCol="false" tIns="0" lIns="0" bIns="0" rIns="0">
            <a:spAutoFit/>
          </a:bodyPr>
          <a:lstStyle/>
          <a:p>
            <a:pPr algn="ctr">
              <a:lnSpc>
                <a:spcPts val="3999"/>
              </a:lnSpc>
            </a:pPr>
            <a:r>
              <a:rPr lang="en-US" sz="3999" b="true">
                <a:solidFill>
                  <a:srgbClr val="FFFFFF"/>
                </a:solidFill>
                <a:latin typeface="Open Sauce Bold"/>
                <a:ea typeface="Open Sauce Bold"/>
                <a:cs typeface="Open Sauce Bold"/>
                <a:sym typeface="Open Sauce Bold"/>
              </a:rPr>
              <a:t>Objective</a:t>
            </a:r>
          </a:p>
        </p:txBody>
      </p:sp>
      <p:grpSp>
        <p:nvGrpSpPr>
          <p:cNvPr name="Group 13" id="13"/>
          <p:cNvGrpSpPr/>
          <p:nvPr/>
        </p:nvGrpSpPr>
        <p:grpSpPr>
          <a:xfrm rot="0">
            <a:off x="12630493" y="5326248"/>
            <a:ext cx="4628807" cy="4476069"/>
            <a:chOff x="0" y="0"/>
            <a:chExt cx="1219110" cy="1178882"/>
          </a:xfrm>
        </p:grpSpPr>
        <p:sp>
          <p:nvSpPr>
            <p:cNvPr name="Freeform 14" id="14"/>
            <p:cNvSpPr/>
            <p:nvPr/>
          </p:nvSpPr>
          <p:spPr>
            <a:xfrm flipH="false" flipV="false" rot="0">
              <a:off x="0" y="0"/>
              <a:ext cx="1219110" cy="1178882"/>
            </a:xfrm>
            <a:custGeom>
              <a:avLst/>
              <a:gdLst/>
              <a:ahLst/>
              <a:cxnLst/>
              <a:rect r="r" b="b" t="t" l="l"/>
              <a:pathLst>
                <a:path h="1178882" w="1219110">
                  <a:moveTo>
                    <a:pt x="50177" y="0"/>
                  </a:moveTo>
                  <a:lnTo>
                    <a:pt x="1168933" y="0"/>
                  </a:lnTo>
                  <a:cubicBezTo>
                    <a:pt x="1196645" y="0"/>
                    <a:pt x="1219110" y="22465"/>
                    <a:pt x="1219110" y="50177"/>
                  </a:cubicBezTo>
                  <a:lnTo>
                    <a:pt x="1219110" y="1128706"/>
                  </a:lnTo>
                  <a:cubicBezTo>
                    <a:pt x="1219110" y="1156418"/>
                    <a:pt x="1196645" y="1178882"/>
                    <a:pt x="1168933" y="1178882"/>
                  </a:cubicBezTo>
                  <a:lnTo>
                    <a:pt x="50177" y="1178882"/>
                  </a:lnTo>
                  <a:cubicBezTo>
                    <a:pt x="22465" y="1178882"/>
                    <a:pt x="0" y="1156418"/>
                    <a:pt x="0" y="1128706"/>
                  </a:cubicBezTo>
                  <a:lnTo>
                    <a:pt x="0" y="50177"/>
                  </a:lnTo>
                  <a:cubicBezTo>
                    <a:pt x="0" y="22465"/>
                    <a:pt x="22465" y="0"/>
                    <a:pt x="50177" y="0"/>
                  </a:cubicBezTo>
                  <a:close/>
                </a:path>
              </a:pathLst>
            </a:custGeom>
            <a:solidFill>
              <a:srgbClr val="9B2121"/>
            </a:solidFill>
            <a:ln w="38100" cap="rnd">
              <a:solidFill>
                <a:srgbClr val="9B2121"/>
              </a:solidFill>
              <a:prstDash val="solid"/>
              <a:round/>
            </a:ln>
          </p:spPr>
        </p:sp>
        <p:sp>
          <p:nvSpPr>
            <p:cNvPr name="TextBox 15" id="15"/>
            <p:cNvSpPr txBox="true"/>
            <p:nvPr/>
          </p:nvSpPr>
          <p:spPr>
            <a:xfrm>
              <a:off x="0" y="-47625"/>
              <a:ext cx="1219110" cy="1226507"/>
            </a:xfrm>
            <a:prstGeom prst="rect">
              <a:avLst/>
            </a:prstGeom>
          </p:spPr>
          <p:txBody>
            <a:bodyPr anchor="ctr" rtlCol="false" tIns="50800" lIns="50800" bIns="50800" rIns="50800"/>
            <a:lstStyle/>
            <a:p>
              <a:pPr algn="ctr">
                <a:lnSpc>
                  <a:spcPts val="3120"/>
                </a:lnSpc>
              </a:pPr>
            </a:p>
          </p:txBody>
        </p:sp>
      </p:grpSp>
      <p:sp>
        <p:nvSpPr>
          <p:cNvPr name="TextBox 16" id="16"/>
          <p:cNvSpPr txBox="true"/>
          <p:nvPr/>
        </p:nvSpPr>
        <p:spPr>
          <a:xfrm rot="0">
            <a:off x="12639877" y="5511698"/>
            <a:ext cx="4619423" cy="530225"/>
          </a:xfrm>
          <a:prstGeom prst="rect">
            <a:avLst/>
          </a:prstGeom>
        </p:spPr>
        <p:txBody>
          <a:bodyPr anchor="t" rtlCol="false" tIns="0" lIns="0" bIns="0" rIns="0">
            <a:spAutoFit/>
          </a:bodyPr>
          <a:lstStyle/>
          <a:p>
            <a:pPr algn="ctr">
              <a:lnSpc>
                <a:spcPts val="3999"/>
              </a:lnSpc>
            </a:pPr>
            <a:r>
              <a:rPr lang="en-US" sz="3999" b="true">
                <a:solidFill>
                  <a:srgbClr val="FFFFFF"/>
                </a:solidFill>
                <a:latin typeface="Open Sauce Bold"/>
                <a:ea typeface="Open Sauce Bold"/>
                <a:cs typeface="Open Sauce Bold"/>
                <a:sym typeface="Open Sauce Bold"/>
              </a:rPr>
              <a:t>Business Metrics</a:t>
            </a:r>
          </a:p>
        </p:txBody>
      </p:sp>
      <p:sp>
        <p:nvSpPr>
          <p:cNvPr name="TextBox 17" id="17"/>
          <p:cNvSpPr txBox="true"/>
          <p:nvPr/>
        </p:nvSpPr>
        <p:spPr>
          <a:xfrm rot="0">
            <a:off x="1028700" y="6122885"/>
            <a:ext cx="4397874" cy="3474923"/>
          </a:xfrm>
          <a:prstGeom prst="rect">
            <a:avLst/>
          </a:prstGeom>
        </p:spPr>
        <p:txBody>
          <a:bodyPr anchor="t" rtlCol="false" tIns="0" lIns="0" bIns="0" rIns="0">
            <a:spAutoFit/>
          </a:bodyPr>
          <a:lstStyle/>
          <a:p>
            <a:pPr algn="just" marL="352776" indent="-176388" lvl="1">
              <a:lnSpc>
                <a:spcPts val="2124"/>
              </a:lnSpc>
              <a:buAutoNum type="arabicPeriod" startAt="1"/>
            </a:pPr>
            <a:r>
              <a:rPr lang="en-US" sz="1633">
                <a:solidFill>
                  <a:srgbClr val="FFFFFF"/>
                </a:solidFill>
                <a:latin typeface="Poppins"/>
                <a:ea typeface="Poppins"/>
                <a:cs typeface="Poppins"/>
                <a:sym typeface="Poppins"/>
              </a:rPr>
              <a:t>Meningkatkan keakuratan prediksi dalam menilai risiko kredit untuk mengidentifikasi pemohon yang berisiko.</a:t>
            </a:r>
          </a:p>
          <a:p>
            <a:pPr algn="just" marL="352776" indent="-176388" lvl="1">
              <a:lnSpc>
                <a:spcPts val="2124"/>
              </a:lnSpc>
              <a:buAutoNum type="arabicPeriod" startAt="1"/>
            </a:pPr>
            <a:r>
              <a:rPr lang="en-US" sz="1633">
                <a:solidFill>
                  <a:srgbClr val="FFFFFF"/>
                </a:solidFill>
                <a:latin typeface="Poppins"/>
                <a:ea typeface="Poppins"/>
                <a:cs typeface="Poppins"/>
                <a:sym typeface="Poppins"/>
              </a:rPr>
              <a:t>Mengelola risiko kredit dengan cara mengurangi potensi kerugian f</a:t>
            </a:r>
            <a:r>
              <a:rPr lang="en-US" sz="1633">
                <a:solidFill>
                  <a:srgbClr val="FFFFFF"/>
                </a:solidFill>
                <a:latin typeface="Poppins"/>
                <a:ea typeface="Poppins"/>
                <a:cs typeface="Poppins"/>
                <a:sym typeface="Poppins"/>
              </a:rPr>
              <a:t>in</a:t>
            </a:r>
            <a:r>
              <a:rPr lang="en-US" sz="1633">
                <a:solidFill>
                  <a:srgbClr val="FFFFFF"/>
                </a:solidFill>
                <a:latin typeface="Poppins"/>
                <a:ea typeface="Poppins"/>
                <a:cs typeface="Poppins"/>
                <a:sym typeface="Poppins"/>
              </a:rPr>
              <a:t>ansial dengan memilih pemohon yang mampu membayar pinjaman tepat waktu.</a:t>
            </a:r>
          </a:p>
          <a:p>
            <a:pPr algn="just" marL="352776" indent="-176388" lvl="1">
              <a:lnSpc>
                <a:spcPts val="2124"/>
              </a:lnSpc>
              <a:buAutoNum type="arabicPeriod" startAt="1"/>
            </a:pPr>
            <a:r>
              <a:rPr lang="en-US" sz="1633">
                <a:solidFill>
                  <a:srgbClr val="FFFFFF"/>
                </a:solidFill>
                <a:latin typeface="Poppins"/>
                <a:ea typeface="Poppins"/>
                <a:cs typeface="Poppins"/>
                <a:sym typeface="Poppins"/>
              </a:rPr>
              <a:t>Mengoptimalkan keputusan bisnis dengan mengambil keputusan pinjaman yang lebih tepat berdasarkan data dan model prediksi.</a:t>
            </a:r>
          </a:p>
        </p:txBody>
      </p:sp>
      <p:sp>
        <p:nvSpPr>
          <p:cNvPr name="TextBox 18" id="18"/>
          <p:cNvSpPr txBox="true"/>
          <p:nvPr/>
        </p:nvSpPr>
        <p:spPr>
          <a:xfrm rot="0">
            <a:off x="6829596" y="6122885"/>
            <a:ext cx="4397874" cy="2941523"/>
          </a:xfrm>
          <a:prstGeom prst="rect">
            <a:avLst/>
          </a:prstGeom>
        </p:spPr>
        <p:txBody>
          <a:bodyPr anchor="t" rtlCol="false" tIns="0" lIns="0" bIns="0" rIns="0">
            <a:spAutoFit/>
          </a:bodyPr>
          <a:lstStyle/>
          <a:p>
            <a:pPr algn="just" marL="352776" indent="-176388" lvl="1">
              <a:lnSpc>
                <a:spcPts val="2124"/>
              </a:lnSpc>
              <a:buAutoNum type="arabicPeriod" startAt="1"/>
            </a:pPr>
            <a:r>
              <a:rPr lang="en-US" sz="1633">
                <a:solidFill>
                  <a:srgbClr val="FFFFFF"/>
                </a:solidFill>
                <a:latin typeface="Poppins"/>
                <a:ea typeface="Poppins"/>
                <a:cs typeface="Poppins"/>
                <a:sym typeface="Poppins"/>
              </a:rPr>
              <a:t>Mengembangkan model machine learning yang dapat memprediksi risiko kredit dengan presisi tinggi, serta mengidentifikasi pemohon yang berisiko gagal bayar.</a:t>
            </a:r>
          </a:p>
          <a:p>
            <a:pPr algn="just" marL="352776" indent="-176388" lvl="1">
              <a:lnSpc>
                <a:spcPts val="2124"/>
              </a:lnSpc>
              <a:buAutoNum type="arabicPeriod" startAt="1"/>
            </a:pPr>
            <a:r>
              <a:rPr lang="en-US" sz="1633">
                <a:solidFill>
                  <a:srgbClr val="FFFFFF"/>
                </a:solidFill>
                <a:latin typeface="Poppins"/>
                <a:ea typeface="Poppins"/>
                <a:cs typeface="Poppins"/>
                <a:sym typeface="Poppins"/>
              </a:rPr>
              <a:t>Mengid</a:t>
            </a:r>
            <a:r>
              <a:rPr lang="en-US" sz="1633">
                <a:solidFill>
                  <a:srgbClr val="FFFFFF"/>
                </a:solidFill>
                <a:latin typeface="Poppins"/>
                <a:ea typeface="Poppins"/>
                <a:cs typeface="Poppins"/>
                <a:sym typeface="Poppins"/>
              </a:rPr>
              <a:t>entifikasi faktor-faktor yang berkontribusi terhadap risiko kredit untuk memberikan gambar</a:t>
            </a:r>
            <a:r>
              <a:rPr lang="en-US" sz="1633">
                <a:solidFill>
                  <a:srgbClr val="FFFFFF"/>
                </a:solidFill>
                <a:latin typeface="Poppins"/>
                <a:ea typeface="Poppins"/>
                <a:cs typeface="Poppins"/>
                <a:sym typeface="Poppins"/>
              </a:rPr>
              <a:t>an lebih jelas mengenai faktor-faktor yang meningkatkan kemungkinan gagal bayar.</a:t>
            </a:r>
          </a:p>
        </p:txBody>
      </p:sp>
      <p:sp>
        <p:nvSpPr>
          <p:cNvPr name="TextBox 19" id="19"/>
          <p:cNvSpPr txBox="true"/>
          <p:nvPr/>
        </p:nvSpPr>
        <p:spPr>
          <a:xfrm rot="0">
            <a:off x="12745960" y="6122885"/>
            <a:ext cx="4397874" cy="1608023"/>
          </a:xfrm>
          <a:prstGeom prst="rect">
            <a:avLst/>
          </a:prstGeom>
        </p:spPr>
        <p:txBody>
          <a:bodyPr anchor="t" rtlCol="false" tIns="0" lIns="0" bIns="0" rIns="0">
            <a:spAutoFit/>
          </a:bodyPr>
          <a:lstStyle/>
          <a:p>
            <a:pPr algn="just" marL="352776" indent="-176388" lvl="1">
              <a:lnSpc>
                <a:spcPts val="2124"/>
              </a:lnSpc>
              <a:buAutoNum type="arabicPeriod" startAt="1"/>
            </a:pPr>
            <a:r>
              <a:rPr lang="en-US" sz="1633">
                <a:solidFill>
                  <a:srgbClr val="FFFFFF"/>
                </a:solidFill>
                <a:latin typeface="Poppins"/>
                <a:ea typeface="Poppins"/>
                <a:cs typeface="Poppins"/>
                <a:sym typeface="Poppins"/>
              </a:rPr>
              <a:t>Accuracy</a:t>
            </a:r>
          </a:p>
          <a:p>
            <a:pPr algn="just" marL="352776" indent="-176388" lvl="1">
              <a:lnSpc>
                <a:spcPts val="2124"/>
              </a:lnSpc>
              <a:buAutoNum type="arabicPeriod" startAt="1"/>
            </a:pPr>
            <a:r>
              <a:rPr lang="en-US" sz="1633">
                <a:solidFill>
                  <a:srgbClr val="FFFFFF"/>
                </a:solidFill>
                <a:latin typeface="Poppins"/>
                <a:ea typeface="Poppins"/>
                <a:cs typeface="Poppins"/>
                <a:sym typeface="Poppins"/>
              </a:rPr>
              <a:t>Precision</a:t>
            </a:r>
          </a:p>
          <a:p>
            <a:pPr algn="just" marL="352776" indent="-176388" lvl="1">
              <a:lnSpc>
                <a:spcPts val="2124"/>
              </a:lnSpc>
              <a:buAutoNum type="arabicPeriod" startAt="1"/>
            </a:pPr>
            <a:r>
              <a:rPr lang="en-US" sz="1633">
                <a:solidFill>
                  <a:srgbClr val="FFFFFF"/>
                </a:solidFill>
                <a:latin typeface="Poppins"/>
                <a:ea typeface="Poppins"/>
                <a:cs typeface="Poppins"/>
                <a:sym typeface="Poppins"/>
              </a:rPr>
              <a:t>Recall</a:t>
            </a:r>
          </a:p>
          <a:p>
            <a:pPr algn="just" marL="352776" indent="-176388" lvl="1">
              <a:lnSpc>
                <a:spcPts val="2124"/>
              </a:lnSpc>
              <a:buAutoNum type="arabicPeriod" startAt="1"/>
            </a:pPr>
            <a:r>
              <a:rPr lang="en-US" sz="1633">
                <a:solidFill>
                  <a:srgbClr val="FFFFFF"/>
                </a:solidFill>
                <a:latin typeface="Poppins"/>
                <a:ea typeface="Poppins"/>
                <a:cs typeface="Poppins"/>
                <a:sym typeface="Poppins"/>
              </a:rPr>
              <a:t>F1-Score</a:t>
            </a:r>
          </a:p>
          <a:p>
            <a:pPr algn="just" marL="352776" indent="-176388" lvl="1">
              <a:lnSpc>
                <a:spcPts val="2124"/>
              </a:lnSpc>
              <a:buAutoNum type="arabicPeriod" startAt="1"/>
            </a:pPr>
            <a:r>
              <a:rPr lang="en-US" sz="1633">
                <a:solidFill>
                  <a:srgbClr val="FFFFFF"/>
                </a:solidFill>
                <a:latin typeface="Poppins"/>
                <a:ea typeface="Poppins"/>
                <a:cs typeface="Poppins"/>
                <a:sym typeface="Poppins"/>
              </a:rPr>
              <a:t>AUC-ROC</a:t>
            </a:r>
          </a:p>
          <a:p>
            <a:pPr algn="just" marL="352776" indent="-176388" lvl="1">
              <a:lnSpc>
                <a:spcPts val="2124"/>
              </a:lnSpc>
              <a:buAutoNum type="arabicPeriod" startAt="1"/>
            </a:pPr>
            <a:r>
              <a:rPr lang="en-US" sz="1633">
                <a:solidFill>
                  <a:srgbClr val="FFFFFF"/>
                </a:solidFill>
                <a:latin typeface="Poppins"/>
                <a:ea typeface="Poppins"/>
                <a:cs typeface="Poppins"/>
                <a:sym typeface="Poppins"/>
              </a:rPr>
              <a:t>MCC</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8919454" y="980602"/>
            <a:ext cx="8564391" cy="8277698"/>
            <a:chOff x="0" y="0"/>
            <a:chExt cx="2255642" cy="2180134"/>
          </a:xfrm>
        </p:grpSpPr>
        <p:sp>
          <p:nvSpPr>
            <p:cNvPr name="Freeform 4" id="4"/>
            <p:cNvSpPr/>
            <p:nvPr/>
          </p:nvSpPr>
          <p:spPr>
            <a:xfrm flipH="false" flipV="false" rot="0">
              <a:off x="0" y="0"/>
              <a:ext cx="2255642" cy="2180134"/>
            </a:xfrm>
            <a:custGeom>
              <a:avLst/>
              <a:gdLst/>
              <a:ahLst/>
              <a:cxnLst/>
              <a:rect r="r" b="b" t="t" l="l"/>
              <a:pathLst>
                <a:path h="2180134" w="2255642">
                  <a:moveTo>
                    <a:pt x="27119" y="0"/>
                  </a:moveTo>
                  <a:lnTo>
                    <a:pt x="2228523" y="0"/>
                  </a:lnTo>
                  <a:cubicBezTo>
                    <a:pt x="2243501" y="0"/>
                    <a:pt x="2255642" y="12142"/>
                    <a:pt x="2255642" y="27119"/>
                  </a:cubicBezTo>
                  <a:lnTo>
                    <a:pt x="2255642" y="2153015"/>
                  </a:lnTo>
                  <a:cubicBezTo>
                    <a:pt x="2255642" y="2167993"/>
                    <a:pt x="2243501" y="2180134"/>
                    <a:pt x="2228523" y="2180134"/>
                  </a:cubicBezTo>
                  <a:lnTo>
                    <a:pt x="27119" y="2180134"/>
                  </a:lnTo>
                  <a:cubicBezTo>
                    <a:pt x="12142" y="2180134"/>
                    <a:pt x="0" y="2167993"/>
                    <a:pt x="0" y="2153015"/>
                  </a:cubicBezTo>
                  <a:lnTo>
                    <a:pt x="0" y="27119"/>
                  </a:lnTo>
                  <a:cubicBezTo>
                    <a:pt x="0" y="12142"/>
                    <a:pt x="12142" y="0"/>
                    <a:pt x="27119" y="0"/>
                  </a:cubicBezTo>
                  <a:close/>
                </a:path>
              </a:pathLst>
            </a:custGeom>
            <a:solidFill>
              <a:srgbClr val="9B2121"/>
            </a:solidFill>
            <a:ln w="38100" cap="rnd">
              <a:solidFill>
                <a:srgbClr val="9B2121"/>
              </a:solidFill>
              <a:prstDash val="solid"/>
              <a:round/>
            </a:ln>
          </p:spPr>
        </p:sp>
        <p:sp>
          <p:nvSpPr>
            <p:cNvPr name="TextBox 5" id="5"/>
            <p:cNvSpPr txBox="true"/>
            <p:nvPr/>
          </p:nvSpPr>
          <p:spPr>
            <a:xfrm>
              <a:off x="0" y="-47625"/>
              <a:ext cx="2255642" cy="2227759"/>
            </a:xfrm>
            <a:prstGeom prst="rect">
              <a:avLst/>
            </a:prstGeom>
          </p:spPr>
          <p:txBody>
            <a:bodyPr anchor="ctr" rtlCol="false" tIns="50800" lIns="50800" bIns="50800" rIns="50800"/>
            <a:lstStyle/>
            <a:p>
              <a:pPr algn="ctr">
                <a:lnSpc>
                  <a:spcPts val="3120"/>
                </a:lnSpc>
              </a:pPr>
            </a:p>
          </p:txBody>
        </p:sp>
      </p:grpSp>
      <p:sp>
        <p:nvSpPr>
          <p:cNvPr name="TextBox 6" id="6"/>
          <p:cNvSpPr txBox="true"/>
          <p:nvPr/>
        </p:nvSpPr>
        <p:spPr>
          <a:xfrm rot="0">
            <a:off x="3093053" y="4530020"/>
            <a:ext cx="8115300" cy="2079626"/>
          </a:xfrm>
          <a:prstGeom prst="rect">
            <a:avLst/>
          </a:prstGeom>
        </p:spPr>
        <p:txBody>
          <a:bodyPr anchor="t" rtlCol="false" tIns="0" lIns="0" bIns="0" rIns="0">
            <a:spAutoFit/>
          </a:bodyPr>
          <a:lstStyle/>
          <a:p>
            <a:pPr algn="l">
              <a:lnSpc>
                <a:spcPts val="8000"/>
              </a:lnSpc>
            </a:pPr>
            <a:r>
              <a:rPr lang="en-US" sz="8000">
                <a:solidFill>
                  <a:srgbClr val="9B2121"/>
                </a:solidFill>
                <a:latin typeface="Open Sauce"/>
                <a:ea typeface="Open Sauce"/>
                <a:cs typeface="Open Sauce"/>
                <a:sym typeface="Open Sauce"/>
              </a:rPr>
              <a:t>Alur Kerja Proyek</a:t>
            </a:r>
          </a:p>
        </p:txBody>
      </p:sp>
      <p:sp>
        <p:nvSpPr>
          <p:cNvPr name="Freeform 7" id="7"/>
          <p:cNvSpPr/>
          <p:nvPr/>
        </p:nvSpPr>
        <p:spPr>
          <a:xfrm flipH="false" flipV="false" rot="-2472615">
            <a:off x="-5444764" y="359139"/>
            <a:ext cx="13724591" cy="4574864"/>
          </a:xfrm>
          <a:custGeom>
            <a:avLst/>
            <a:gdLst/>
            <a:ahLst/>
            <a:cxnLst/>
            <a:rect r="r" b="b" t="t" l="l"/>
            <a:pathLst>
              <a:path h="4574864" w="13724591">
                <a:moveTo>
                  <a:pt x="0" y="0"/>
                </a:moveTo>
                <a:lnTo>
                  <a:pt x="13724591" y="0"/>
                </a:lnTo>
                <a:lnTo>
                  <a:pt x="13724591" y="4574864"/>
                </a:lnTo>
                <a:lnTo>
                  <a:pt x="0" y="4574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9793004" y="1076325"/>
            <a:ext cx="6817292" cy="790575"/>
          </a:xfrm>
          <a:prstGeom prst="rect">
            <a:avLst/>
          </a:prstGeom>
        </p:spPr>
        <p:txBody>
          <a:bodyPr anchor="t" rtlCol="false" tIns="0" lIns="0" bIns="0" rIns="0">
            <a:spAutoFit/>
          </a:bodyPr>
          <a:lstStyle/>
          <a:p>
            <a:pPr algn="ctr">
              <a:lnSpc>
                <a:spcPts val="3000"/>
              </a:lnSpc>
            </a:pPr>
            <a:r>
              <a:rPr lang="en-US" sz="3000" b="true">
                <a:solidFill>
                  <a:srgbClr val="FFFFFF"/>
                </a:solidFill>
                <a:latin typeface="Open Sauce Bold"/>
                <a:ea typeface="Open Sauce Bold"/>
                <a:cs typeface="Open Sauce Bold"/>
                <a:sym typeface="Open Sauce Bold"/>
              </a:rPr>
              <a:t>Proyek ini dilakukan dengan langkah-langkah berikut:</a:t>
            </a:r>
          </a:p>
        </p:txBody>
      </p:sp>
      <p:grpSp>
        <p:nvGrpSpPr>
          <p:cNvPr name="Group 9" id="9"/>
          <p:cNvGrpSpPr/>
          <p:nvPr/>
        </p:nvGrpSpPr>
        <p:grpSpPr>
          <a:xfrm rot="0">
            <a:off x="11208353" y="2044508"/>
            <a:ext cx="3986595" cy="910398"/>
            <a:chOff x="0" y="0"/>
            <a:chExt cx="1049967" cy="239776"/>
          </a:xfrm>
        </p:grpSpPr>
        <p:sp>
          <p:nvSpPr>
            <p:cNvPr name="Freeform 10" id="10"/>
            <p:cNvSpPr/>
            <p:nvPr/>
          </p:nvSpPr>
          <p:spPr>
            <a:xfrm flipH="false" flipV="false" rot="0">
              <a:off x="0" y="0"/>
              <a:ext cx="1049967" cy="239776"/>
            </a:xfrm>
            <a:custGeom>
              <a:avLst/>
              <a:gdLst/>
              <a:ahLst/>
              <a:cxnLst/>
              <a:rect r="r" b="b" t="t" l="l"/>
              <a:pathLst>
                <a:path h="239776" w="1049967">
                  <a:moveTo>
                    <a:pt x="119888" y="0"/>
                  </a:moveTo>
                  <a:lnTo>
                    <a:pt x="930079" y="0"/>
                  </a:lnTo>
                  <a:cubicBezTo>
                    <a:pt x="996292" y="0"/>
                    <a:pt x="1049967" y="53676"/>
                    <a:pt x="1049967" y="119888"/>
                  </a:cubicBezTo>
                  <a:lnTo>
                    <a:pt x="1049967" y="119888"/>
                  </a:lnTo>
                  <a:cubicBezTo>
                    <a:pt x="1049967" y="186100"/>
                    <a:pt x="996292" y="239776"/>
                    <a:pt x="930079" y="239776"/>
                  </a:cubicBezTo>
                  <a:lnTo>
                    <a:pt x="119888" y="239776"/>
                  </a:lnTo>
                  <a:cubicBezTo>
                    <a:pt x="53676" y="239776"/>
                    <a:pt x="0" y="186100"/>
                    <a:pt x="0" y="119888"/>
                  </a:cubicBezTo>
                  <a:lnTo>
                    <a:pt x="0" y="119888"/>
                  </a:lnTo>
                  <a:cubicBezTo>
                    <a:pt x="0" y="53676"/>
                    <a:pt x="53676" y="0"/>
                    <a:pt x="119888" y="0"/>
                  </a:cubicBezTo>
                  <a:close/>
                </a:path>
              </a:pathLst>
            </a:custGeom>
            <a:solidFill>
              <a:srgbClr val="FFFFFF"/>
            </a:solidFill>
            <a:ln w="38100" cap="rnd">
              <a:solidFill>
                <a:srgbClr val="FFFFFF"/>
              </a:solidFill>
              <a:prstDash val="solid"/>
              <a:round/>
            </a:ln>
          </p:spPr>
        </p:sp>
        <p:sp>
          <p:nvSpPr>
            <p:cNvPr name="TextBox 11" id="11"/>
            <p:cNvSpPr txBox="true"/>
            <p:nvPr/>
          </p:nvSpPr>
          <p:spPr>
            <a:xfrm>
              <a:off x="0" y="-47625"/>
              <a:ext cx="1049967" cy="287401"/>
            </a:xfrm>
            <a:prstGeom prst="rect">
              <a:avLst/>
            </a:prstGeom>
          </p:spPr>
          <p:txBody>
            <a:bodyPr anchor="ctr" rtlCol="false" tIns="50800" lIns="50800" bIns="50800" rIns="50800"/>
            <a:lstStyle/>
            <a:p>
              <a:pPr algn="ctr">
                <a:lnSpc>
                  <a:spcPts val="3120"/>
                </a:lnSpc>
              </a:pPr>
            </a:p>
          </p:txBody>
        </p:sp>
      </p:grpSp>
      <p:sp>
        <p:nvSpPr>
          <p:cNvPr name="TextBox 12" id="12"/>
          <p:cNvSpPr txBox="true"/>
          <p:nvPr/>
        </p:nvSpPr>
        <p:spPr>
          <a:xfrm rot="0">
            <a:off x="11596066" y="2248984"/>
            <a:ext cx="3211169" cy="407670"/>
          </a:xfrm>
          <a:prstGeom prst="rect">
            <a:avLst/>
          </a:prstGeom>
        </p:spPr>
        <p:txBody>
          <a:bodyPr anchor="t" rtlCol="false" tIns="0" lIns="0" bIns="0" rIns="0">
            <a:spAutoFit/>
          </a:bodyPr>
          <a:lstStyle/>
          <a:p>
            <a:pPr algn="ctr">
              <a:lnSpc>
                <a:spcPts val="3120"/>
              </a:lnSpc>
            </a:pPr>
            <a:r>
              <a:rPr lang="en-US" sz="2400" b="true">
                <a:solidFill>
                  <a:srgbClr val="9B2121"/>
                </a:solidFill>
                <a:latin typeface="Poppins Bold"/>
                <a:ea typeface="Poppins Bold"/>
                <a:cs typeface="Poppins Bold"/>
                <a:sym typeface="Poppins Bold"/>
              </a:rPr>
              <a:t>Data Understanding</a:t>
            </a:r>
          </a:p>
        </p:txBody>
      </p:sp>
      <p:sp>
        <p:nvSpPr>
          <p:cNvPr name="TextBox 13" id="13"/>
          <p:cNvSpPr txBox="true"/>
          <p:nvPr/>
        </p:nvSpPr>
        <p:spPr>
          <a:xfrm rot="0">
            <a:off x="9599076" y="2997014"/>
            <a:ext cx="7205147" cy="372110"/>
          </a:xfrm>
          <a:prstGeom prst="rect">
            <a:avLst/>
          </a:prstGeom>
        </p:spPr>
        <p:txBody>
          <a:bodyPr anchor="t" rtlCol="false" tIns="0" lIns="0" bIns="0" rIns="0">
            <a:spAutoFit/>
          </a:bodyPr>
          <a:lstStyle/>
          <a:p>
            <a:pPr algn="ctr">
              <a:lnSpc>
                <a:spcPts val="2859"/>
              </a:lnSpc>
            </a:pPr>
            <a:r>
              <a:rPr lang="en-US" sz="2199">
                <a:solidFill>
                  <a:srgbClr val="FFFFFF"/>
                </a:solidFill>
                <a:latin typeface="Poppins"/>
                <a:ea typeface="Poppins"/>
                <a:cs typeface="Poppins"/>
                <a:sym typeface="Poppins"/>
              </a:rPr>
              <a:t>Memahami dan menilai dataset yang tersedia.</a:t>
            </a:r>
          </a:p>
        </p:txBody>
      </p:sp>
      <p:grpSp>
        <p:nvGrpSpPr>
          <p:cNvPr name="Group 14" id="14"/>
          <p:cNvGrpSpPr/>
          <p:nvPr/>
        </p:nvGrpSpPr>
        <p:grpSpPr>
          <a:xfrm rot="0">
            <a:off x="11208353" y="3476746"/>
            <a:ext cx="3986595" cy="910398"/>
            <a:chOff x="0" y="0"/>
            <a:chExt cx="1049967" cy="239776"/>
          </a:xfrm>
        </p:grpSpPr>
        <p:sp>
          <p:nvSpPr>
            <p:cNvPr name="Freeform 15" id="15"/>
            <p:cNvSpPr/>
            <p:nvPr/>
          </p:nvSpPr>
          <p:spPr>
            <a:xfrm flipH="false" flipV="false" rot="0">
              <a:off x="0" y="0"/>
              <a:ext cx="1049967" cy="239776"/>
            </a:xfrm>
            <a:custGeom>
              <a:avLst/>
              <a:gdLst/>
              <a:ahLst/>
              <a:cxnLst/>
              <a:rect r="r" b="b" t="t" l="l"/>
              <a:pathLst>
                <a:path h="239776" w="1049967">
                  <a:moveTo>
                    <a:pt x="119888" y="0"/>
                  </a:moveTo>
                  <a:lnTo>
                    <a:pt x="930079" y="0"/>
                  </a:lnTo>
                  <a:cubicBezTo>
                    <a:pt x="996292" y="0"/>
                    <a:pt x="1049967" y="53676"/>
                    <a:pt x="1049967" y="119888"/>
                  </a:cubicBezTo>
                  <a:lnTo>
                    <a:pt x="1049967" y="119888"/>
                  </a:lnTo>
                  <a:cubicBezTo>
                    <a:pt x="1049967" y="186100"/>
                    <a:pt x="996292" y="239776"/>
                    <a:pt x="930079" y="239776"/>
                  </a:cubicBezTo>
                  <a:lnTo>
                    <a:pt x="119888" y="239776"/>
                  </a:lnTo>
                  <a:cubicBezTo>
                    <a:pt x="53676" y="239776"/>
                    <a:pt x="0" y="186100"/>
                    <a:pt x="0" y="119888"/>
                  </a:cubicBezTo>
                  <a:lnTo>
                    <a:pt x="0" y="119888"/>
                  </a:lnTo>
                  <a:cubicBezTo>
                    <a:pt x="0" y="53676"/>
                    <a:pt x="53676" y="0"/>
                    <a:pt x="119888" y="0"/>
                  </a:cubicBezTo>
                  <a:close/>
                </a:path>
              </a:pathLst>
            </a:custGeom>
            <a:solidFill>
              <a:srgbClr val="FFFFFF"/>
            </a:solidFill>
            <a:ln w="38100" cap="rnd">
              <a:solidFill>
                <a:srgbClr val="FFFFFF"/>
              </a:solidFill>
              <a:prstDash val="solid"/>
              <a:round/>
            </a:ln>
          </p:spPr>
        </p:sp>
        <p:sp>
          <p:nvSpPr>
            <p:cNvPr name="TextBox 16" id="16"/>
            <p:cNvSpPr txBox="true"/>
            <p:nvPr/>
          </p:nvSpPr>
          <p:spPr>
            <a:xfrm>
              <a:off x="0" y="-47625"/>
              <a:ext cx="1049967" cy="287401"/>
            </a:xfrm>
            <a:prstGeom prst="rect">
              <a:avLst/>
            </a:prstGeom>
          </p:spPr>
          <p:txBody>
            <a:bodyPr anchor="ctr" rtlCol="false" tIns="50800" lIns="50800" bIns="50800" rIns="50800"/>
            <a:lstStyle/>
            <a:p>
              <a:pPr algn="ctr">
                <a:lnSpc>
                  <a:spcPts val="3120"/>
                </a:lnSpc>
              </a:pPr>
            </a:p>
          </p:txBody>
        </p:sp>
      </p:grpSp>
      <p:sp>
        <p:nvSpPr>
          <p:cNvPr name="TextBox 17" id="17"/>
          <p:cNvSpPr txBox="true"/>
          <p:nvPr/>
        </p:nvSpPr>
        <p:spPr>
          <a:xfrm rot="0">
            <a:off x="11712594" y="3700273"/>
            <a:ext cx="2978112" cy="407670"/>
          </a:xfrm>
          <a:prstGeom prst="rect">
            <a:avLst/>
          </a:prstGeom>
        </p:spPr>
        <p:txBody>
          <a:bodyPr anchor="t" rtlCol="false" tIns="0" lIns="0" bIns="0" rIns="0">
            <a:spAutoFit/>
          </a:bodyPr>
          <a:lstStyle/>
          <a:p>
            <a:pPr algn="ctr">
              <a:lnSpc>
                <a:spcPts val="3120"/>
              </a:lnSpc>
            </a:pPr>
            <a:r>
              <a:rPr lang="en-US" sz="2400" b="true">
                <a:solidFill>
                  <a:srgbClr val="9B2121"/>
                </a:solidFill>
                <a:latin typeface="Poppins Bold"/>
                <a:ea typeface="Poppins Bold"/>
                <a:cs typeface="Poppins Bold"/>
                <a:sym typeface="Poppins Bold"/>
              </a:rPr>
              <a:t>Data Visualization</a:t>
            </a:r>
          </a:p>
        </p:txBody>
      </p:sp>
      <p:sp>
        <p:nvSpPr>
          <p:cNvPr name="TextBox 18" id="18"/>
          <p:cNvSpPr txBox="true"/>
          <p:nvPr/>
        </p:nvSpPr>
        <p:spPr>
          <a:xfrm rot="0">
            <a:off x="9599076" y="4336543"/>
            <a:ext cx="7660224" cy="734060"/>
          </a:xfrm>
          <a:prstGeom prst="rect">
            <a:avLst/>
          </a:prstGeom>
        </p:spPr>
        <p:txBody>
          <a:bodyPr anchor="t" rtlCol="false" tIns="0" lIns="0" bIns="0" rIns="0">
            <a:spAutoFit/>
          </a:bodyPr>
          <a:lstStyle/>
          <a:p>
            <a:pPr algn="ctr">
              <a:lnSpc>
                <a:spcPts val="2859"/>
              </a:lnSpc>
            </a:pPr>
            <a:r>
              <a:rPr lang="en-US" sz="2199">
                <a:solidFill>
                  <a:srgbClr val="FFFFFF"/>
                </a:solidFill>
                <a:latin typeface="Poppins"/>
                <a:ea typeface="Poppins"/>
                <a:cs typeface="Poppins"/>
                <a:sym typeface="Poppins"/>
              </a:rPr>
              <a:t>Melakukan analisis awal untuk mengidentifikasi pola dan hubungan dalam data.</a:t>
            </a:r>
          </a:p>
        </p:txBody>
      </p:sp>
      <p:grpSp>
        <p:nvGrpSpPr>
          <p:cNvPr name="Group 19" id="19"/>
          <p:cNvGrpSpPr/>
          <p:nvPr/>
        </p:nvGrpSpPr>
        <p:grpSpPr>
          <a:xfrm rot="0">
            <a:off x="11208353" y="5175378"/>
            <a:ext cx="3986595" cy="910398"/>
            <a:chOff x="0" y="0"/>
            <a:chExt cx="1049967" cy="239776"/>
          </a:xfrm>
        </p:grpSpPr>
        <p:sp>
          <p:nvSpPr>
            <p:cNvPr name="Freeform 20" id="20"/>
            <p:cNvSpPr/>
            <p:nvPr/>
          </p:nvSpPr>
          <p:spPr>
            <a:xfrm flipH="false" flipV="false" rot="0">
              <a:off x="0" y="0"/>
              <a:ext cx="1049967" cy="239776"/>
            </a:xfrm>
            <a:custGeom>
              <a:avLst/>
              <a:gdLst/>
              <a:ahLst/>
              <a:cxnLst/>
              <a:rect r="r" b="b" t="t" l="l"/>
              <a:pathLst>
                <a:path h="239776" w="1049967">
                  <a:moveTo>
                    <a:pt x="119888" y="0"/>
                  </a:moveTo>
                  <a:lnTo>
                    <a:pt x="930079" y="0"/>
                  </a:lnTo>
                  <a:cubicBezTo>
                    <a:pt x="996292" y="0"/>
                    <a:pt x="1049967" y="53676"/>
                    <a:pt x="1049967" y="119888"/>
                  </a:cubicBezTo>
                  <a:lnTo>
                    <a:pt x="1049967" y="119888"/>
                  </a:lnTo>
                  <a:cubicBezTo>
                    <a:pt x="1049967" y="186100"/>
                    <a:pt x="996292" y="239776"/>
                    <a:pt x="930079" y="239776"/>
                  </a:cubicBezTo>
                  <a:lnTo>
                    <a:pt x="119888" y="239776"/>
                  </a:lnTo>
                  <a:cubicBezTo>
                    <a:pt x="53676" y="239776"/>
                    <a:pt x="0" y="186100"/>
                    <a:pt x="0" y="119888"/>
                  </a:cubicBezTo>
                  <a:lnTo>
                    <a:pt x="0" y="119888"/>
                  </a:lnTo>
                  <a:cubicBezTo>
                    <a:pt x="0" y="53676"/>
                    <a:pt x="53676" y="0"/>
                    <a:pt x="119888" y="0"/>
                  </a:cubicBezTo>
                  <a:close/>
                </a:path>
              </a:pathLst>
            </a:custGeom>
            <a:solidFill>
              <a:srgbClr val="FFFFFF"/>
            </a:solidFill>
            <a:ln w="38100" cap="rnd">
              <a:solidFill>
                <a:srgbClr val="FFFFFF"/>
              </a:solidFill>
              <a:prstDash val="solid"/>
              <a:round/>
            </a:ln>
          </p:spPr>
        </p:sp>
        <p:sp>
          <p:nvSpPr>
            <p:cNvPr name="TextBox 21" id="21"/>
            <p:cNvSpPr txBox="true"/>
            <p:nvPr/>
          </p:nvSpPr>
          <p:spPr>
            <a:xfrm>
              <a:off x="0" y="-47625"/>
              <a:ext cx="1049967" cy="287401"/>
            </a:xfrm>
            <a:prstGeom prst="rect">
              <a:avLst/>
            </a:prstGeom>
          </p:spPr>
          <p:txBody>
            <a:bodyPr anchor="ctr" rtlCol="false" tIns="50800" lIns="50800" bIns="50800" rIns="50800"/>
            <a:lstStyle/>
            <a:p>
              <a:pPr algn="ctr">
                <a:lnSpc>
                  <a:spcPts val="3120"/>
                </a:lnSpc>
              </a:pPr>
            </a:p>
          </p:txBody>
        </p:sp>
      </p:grpSp>
      <p:sp>
        <p:nvSpPr>
          <p:cNvPr name="TextBox 22" id="22"/>
          <p:cNvSpPr txBox="true"/>
          <p:nvPr/>
        </p:nvSpPr>
        <p:spPr>
          <a:xfrm rot="0">
            <a:off x="11712594" y="5402930"/>
            <a:ext cx="2978112" cy="407670"/>
          </a:xfrm>
          <a:prstGeom prst="rect">
            <a:avLst/>
          </a:prstGeom>
        </p:spPr>
        <p:txBody>
          <a:bodyPr anchor="t" rtlCol="false" tIns="0" lIns="0" bIns="0" rIns="0">
            <a:spAutoFit/>
          </a:bodyPr>
          <a:lstStyle/>
          <a:p>
            <a:pPr algn="ctr">
              <a:lnSpc>
                <a:spcPts val="3120"/>
              </a:lnSpc>
            </a:pPr>
            <a:r>
              <a:rPr lang="en-US" sz="2400" b="true">
                <a:solidFill>
                  <a:srgbClr val="9B2121"/>
                </a:solidFill>
                <a:latin typeface="Poppins Bold"/>
                <a:ea typeface="Poppins Bold"/>
                <a:cs typeface="Poppins Bold"/>
                <a:sym typeface="Poppins Bold"/>
              </a:rPr>
              <a:t>Data Prepocessing</a:t>
            </a:r>
          </a:p>
        </p:txBody>
      </p:sp>
      <p:sp>
        <p:nvSpPr>
          <p:cNvPr name="TextBox 23" id="23"/>
          <p:cNvSpPr txBox="true"/>
          <p:nvPr/>
        </p:nvSpPr>
        <p:spPr>
          <a:xfrm rot="0">
            <a:off x="9206975" y="6181026"/>
            <a:ext cx="7989350" cy="734060"/>
          </a:xfrm>
          <a:prstGeom prst="rect">
            <a:avLst/>
          </a:prstGeom>
        </p:spPr>
        <p:txBody>
          <a:bodyPr anchor="t" rtlCol="false" tIns="0" lIns="0" bIns="0" rIns="0">
            <a:spAutoFit/>
          </a:bodyPr>
          <a:lstStyle/>
          <a:p>
            <a:pPr algn="ctr">
              <a:lnSpc>
                <a:spcPts val="2859"/>
              </a:lnSpc>
            </a:pPr>
            <a:r>
              <a:rPr lang="en-US" sz="2199">
                <a:solidFill>
                  <a:srgbClr val="FFFFFF"/>
                </a:solidFill>
                <a:latin typeface="Poppins"/>
                <a:ea typeface="Poppins"/>
                <a:cs typeface="Poppins"/>
                <a:sym typeface="Poppins"/>
              </a:rPr>
              <a:t>Mengolah data untuk memastikan kualitasnya, menangani missing values, dan menyeimbangkan kelas.</a:t>
            </a:r>
          </a:p>
        </p:txBody>
      </p:sp>
      <p:grpSp>
        <p:nvGrpSpPr>
          <p:cNvPr name="Group 24" id="24"/>
          <p:cNvGrpSpPr/>
          <p:nvPr/>
        </p:nvGrpSpPr>
        <p:grpSpPr>
          <a:xfrm rot="0">
            <a:off x="11208353" y="7000811"/>
            <a:ext cx="3986595" cy="910398"/>
            <a:chOff x="0" y="0"/>
            <a:chExt cx="1049967" cy="239776"/>
          </a:xfrm>
        </p:grpSpPr>
        <p:sp>
          <p:nvSpPr>
            <p:cNvPr name="Freeform 25" id="25"/>
            <p:cNvSpPr/>
            <p:nvPr/>
          </p:nvSpPr>
          <p:spPr>
            <a:xfrm flipH="false" flipV="false" rot="0">
              <a:off x="0" y="0"/>
              <a:ext cx="1049967" cy="239776"/>
            </a:xfrm>
            <a:custGeom>
              <a:avLst/>
              <a:gdLst/>
              <a:ahLst/>
              <a:cxnLst/>
              <a:rect r="r" b="b" t="t" l="l"/>
              <a:pathLst>
                <a:path h="239776" w="1049967">
                  <a:moveTo>
                    <a:pt x="119888" y="0"/>
                  </a:moveTo>
                  <a:lnTo>
                    <a:pt x="930079" y="0"/>
                  </a:lnTo>
                  <a:cubicBezTo>
                    <a:pt x="996292" y="0"/>
                    <a:pt x="1049967" y="53676"/>
                    <a:pt x="1049967" y="119888"/>
                  </a:cubicBezTo>
                  <a:lnTo>
                    <a:pt x="1049967" y="119888"/>
                  </a:lnTo>
                  <a:cubicBezTo>
                    <a:pt x="1049967" y="186100"/>
                    <a:pt x="996292" y="239776"/>
                    <a:pt x="930079" y="239776"/>
                  </a:cubicBezTo>
                  <a:lnTo>
                    <a:pt x="119888" y="239776"/>
                  </a:lnTo>
                  <a:cubicBezTo>
                    <a:pt x="53676" y="239776"/>
                    <a:pt x="0" y="186100"/>
                    <a:pt x="0" y="119888"/>
                  </a:cubicBezTo>
                  <a:lnTo>
                    <a:pt x="0" y="119888"/>
                  </a:lnTo>
                  <a:cubicBezTo>
                    <a:pt x="0" y="53676"/>
                    <a:pt x="53676" y="0"/>
                    <a:pt x="119888" y="0"/>
                  </a:cubicBezTo>
                  <a:close/>
                </a:path>
              </a:pathLst>
            </a:custGeom>
            <a:solidFill>
              <a:srgbClr val="FFFFFF"/>
            </a:solidFill>
            <a:ln w="38100" cap="rnd">
              <a:solidFill>
                <a:srgbClr val="FFFFFF"/>
              </a:solidFill>
              <a:prstDash val="solid"/>
              <a:round/>
            </a:ln>
          </p:spPr>
        </p:sp>
        <p:sp>
          <p:nvSpPr>
            <p:cNvPr name="TextBox 26" id="26"/>
            <p:cNvSpPr txBox="true"/>
            <p:nvPr/>
          </p:nvSpPr>
          <p:spPr>
            <a:xfrm>
              <a:off x="0" y="-47625"/>
              <a:ext cx="1049967" cy="287401"/>
            </a:xfrm>
            <a:prstGeom prst="rect">
              <a:avLst/>
            </a:prstGeom>
          </p:spPr>
          <p:txBody>
            <a:bodyPr anchor="ctr" rtlCol="false" tIns="50800" lIns="50800" bIns="50800" rIns="50800"/>
            <a:lstStyle/>
            <a:p>
              <a:pPr algn="ctr">
                <a:lnSpc>
                  <a:spcPts val="3120"/>
                </a:lnSpc>
              </a:pPr>
            </a:p>
          </p:txBody>
        </p:sp>
      </p:grpSp>
      <p:sp>
        <p:nvSpPr>
          <p:cNvPr name="TextBox 27" id="27"/>
          <p:cNvSpPr txBox="true"/>
          <p:nvPr/>
        </p:nvSpPr>
        <p:spPr>
          <a:xfrm rot="0">
            <a:off x="11964715" y="7182421"/>
            <a:ext cx="2473870" cy="407670"/>
          </a:xfrm>
          <a:prstGeom prst="rect">
            <a:avLst/>
          </a:prstGeom>
        </p:spPr>
        <p:txBody>
          <a:bodyPr anchor="t" rtlCol="false" tIns="0" lIns="0" bIns="0" rIns="0">
            <a:spAutoFit/>
          </a:bodyPr>
          <a:lstStyle/>
          <a:p>
            <a:pPr algn="ctr">
              <a:lnSpc>
                <a:spcPts val="3120"/>
              </a:lnSpc>
            </a:pPr>
            <a:r>
              <a:rPr lang="en-US" sz="2400" b="true">
                <a:solidFill>
                  <a:srgbClr val="9B2121"/>
                </a:solidFill>
                <a:latin typeface="Poppins Bold"/>
                <a:ea typeface="Poppins Bold"/>
                <a:cs typeface="Poppins Bold"/>
                <a:sym typeface="Poppins Bold"/>
              </a:rPr>
              <a:t>Data Modelling</a:t>
            </a:r>
          </a:p>
        </p:txBody>
      </p:sp>
      <p:sp>
        <p:nvSpPr>
          <p:cNvPr name="TextBox 28" id="28"/>
          <p:cNvSpPr txBox="true"/>
          <p:nvPr/>
        </p:nvSpPr>
        <p:spPr>
          <a:xfrm rot="0">
            <a:off x="9461358" y="7958835"/>
            <a:ext cx="7734967" cy="1096010"/>
          </a:xfrm>
          <a:prstGeom prst="rect">
            <a:avLst/>
          </a:prstGeom>
        </p:spPr>
        <p:txBody>
          <a:bodyPr anchor="t" rtlCol="false" tIns="0" lIns="0" bIns="0" rIns="0">
            <a:spAutoFit/>
          </a:bodyPr>
          <a:lstStyle/>
          <a:p>
            <a:pPr algn="ctr">
              <a:lnSpc>
                <a:spcPts val="2860"/>
              </a:lnSpc>
            </a:pPr>
            <a:r>
              <a:rPr lang="en-US" sz="2200">
                <a:solidFill>
                  <a:srgbClr val="FFFFFF"/>
                </a:solidFill>
                <a:latin typeface="Poppins"/>
                <a:ea typeface="Poppins"/>
                <a:cs typeface="Poppins"/>
                <a:sym typeface="Poppins"/>
              </a:rPr>
              <a:t>Mengevaluasi kinerja model berdasarkan metrik yang relevan seperti Confusion Matrix, Accuracy, Precision, Recall, F1-Score, AUC-ROC dan MCC.</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TextBox 3" id="3"/>
          <p:cNvSpPr txBox="true"/>
          <p:nvPr/>
        </p:nvSpPr>
        <p:spPr>
          <a:xfrm rot="0">
            <a:off x="4779896" y="2889958"/>
            <a:ext cx="2455285" cy="834390"/>
          </a:xfrm>
          <a:prstGeom prst="rect">
            <a:avLst/>
          </a:prstGeom>
        </p:spPr>
        <p:txBody>
          <a:bodyPr anchor="t" rtlCol="false" tIns="0" lIns="0" bIns="0" rIns="0">
            <a:spAutoFit/>
          </a:bodyPr>
          <a:lstStyle/>
          <a:p>
            <a:pPr algn="ctr">
              <a:lnSpc>
                <a:spcPts val="6720"/>
              </a:lnSpc>
            </a:pPr>
            <a:r>
              <a:rPr lang="en-US" sz="4200" b="true">
                <a:solidFill>
                  <a:srgbClr val="9B2121"/>
                </a:solidFill>
                <a:latin typeface="Poppins Bold"/>
                <a:ea typeface="Poppins Bold"/>
                <a:cs typeface="Poppins Bold"/>
                <a:sym typeface="Poppins Bold"/>
              </a:rPr>
              <a:t>Dimensi</a:t>
            </a:r>
          </a:p>
        </p:txBody>
      </p:sp>
      <p:sp>
        <p:nvSpPr>
          <p:cNvPr name="TextBox 4" id="4"/>
          <p:cNvSpPr txBox="true"/>
          <p:nvPr/>
        </p:nvSpPr>
        <p:spPr>
          <a:xfrm rot="0">
            <a:off x="4187006" y="1171575"/>
            <a:ext cx="9913987" cy="1069976"/>
          </a:xfrm>
          <a:prstGeom prst="rect">
            <a:avLst/>
          </a:prstGeom>
        </p:spPr>
        <p:txBody>
          <a:bodyPr anchor="t" rtlCol="false" tIns="0" lIns="0" bIns="0" rIns="0">
            <a:spAutoFit/>
          </a:bodyPr>
          <a:lstStyle/>
          <a:p>
            <a:pPr algn="ctr">
              <a:lnSpc>
                <a:spcPts val="8000"/>
              </a:lnSpc>
            </a:pPr>
            <a:r>
              <a:rPr lang="en-US" sz="8000">
                <a:solidFill>
                  <a:srgbClr val="9B2121"/>
                </a:solidFill>
                <a:latin typeface="Open Sauce"/>
                <a:ea typeface="Open Sauce"/>
                <a:cs typeface="Open Sauce"/>
                <a:sym typeface="Open Sauce"/>
              </a:rPr>
              <a:t>Data Understanding</a:t>
            </a:r>
          </a:p>
        </p:txBody>
      </p:sp>
      <p:sp>
        <p:nvSpPr>
          <p:cNvPr name="TextBox 5" id="5"/>
          <p:cNvSpPr txBox="true"/>
          <p:nvPr/>
        </p:nvSpPr>
        <p:spPr>
          <a:xfrm rot="0">
            <a:off x="11507444" y="2889958"/>
            <a:ext cx="1328373" cy="834390"/>
          </a:xfrm>
          <a:prstGeom prst="rect">
            <a:avLst/>
          </a:prstGeom>
        </p:spPr>
        <p:txBody>
          <a:bodyPr anchor="t" rtlCol="false" tIns="0" lIns="0" bIns="0" rIns="0">
            <a:spAutoFit/>
          </a:bodyPr>
          <a:lstStyle/>
          <a:p>
            <a:pPr algn="ctr">
              <a:lnSpc>
                <a:spcPts val="6720"/>
              </a:lnSpc>
            </a:pPr>
            <a:r>
              <a:rPr lang="en-US" sz="4200" b="true">
                <a:solidFill>
                  <a:srgbClr val="9B2121"/>
                </a:solidFill>
                <a:latin typeface="Poppins Bold"/>
                <a:ea typeface="Poppins Bold"/>
                <a:cs typeface="Poppins Bold"/>
                <a:sym typeface="Poppins Bold"/>
              </a:rPr>
              <a:t>Tipe</a:t>
            </a:r>
          </a:p>
        </p:txBody>
      </p:sp>
      <p:grpSp>
        <p:nvGrpSpPr>
          <p:cNvPr name="Group 6" id="6"/>
          <p:cNvGrpSpPr/>
          <p:nvPr/>
        </p:nvGrpSpPr>
        <p:grpSpPr>
          <a:xfrm rot="0">
            <a:off x="4419664" y="4176631"/>
            <a:ext cx="3175748" cy="966869"/>
            <a:chOff x="0" y="0"/>
            <a:chExt cx="4234331" cy="1289158"/>
          </a:xfrm>
        </p:grpSpPr>
        <p:grpSp>
          <p:nvGrpSpPr>
            <p:cNvPr name="Group 7" id="7"/>
            <p:cNvGrpSpPr/>
            <p:nvPr/>
          </p:nvGrpSpPr>
          <p:grpSpPr>
            <a:xfrm rot="0">
              <a:off x="0" y="0"/>
              <a:ext cx="4234331" cy="1289158"/>
              <a:chOff x="0" y="0"/>
              <a:chExt cx="1161418" cy="353598"/>
            </a:xfrm>
          </p:grpSpPr>
          <p:sp>
            <p:nvSpPr>
              <p:cNvPr name="Freeform 8" id="8"/>
              <p:cNvSpPr/>
              <p:nvPr/>
            </p:nvSpPr>
            <p:spPr>
              <a:xfrm flipH="false" flipV="false" rot="0">
                <a:off x="0" y="0"/>
                <a:ext cx="1161418" cy="353598"/>
              </a:xfrm>
              <a:custGeom>
                <a:avLst/>
                <a:gdLst/>
                <a:ahLst/>
                <a:cxnLst/>
                <a:rect r="r" b="b" t="t" l="l"/>
                <a:pathLst>
                  <a:path h="353598" w="1161418">
                    <a:moveTo>
                      <a:pt x="87831" y="0"/>
                    </a:moveTo>
                    <a:lnTo>
                      <a:pt x="1073588" y="0"/>
                    </a:lnTo>
                    <a:cubicBezTo>
                      <a:pt x="1096882" y="0"/>
                      <a:pt x="1119222" y="9254"/>
                      <a:pt x="1135693" y="25725"/>
                    </a:cubicBezTo>
                    <a:cubicBezTo>
                      <a:pt x="1152165" y="42197"/>
                      <a:pt x="1161418" y="64537"/>
                      <a:pt x="1161418" y="87831"/>
                    </a:cubicBezTo>
                    <a:lnTo>
                      <a:pt x="1161418" y="265767"/>
                    </a:lnTo>
                    <a:cubicBezTo>
                      <a:pt x="1161418" y="314275"/>
                      <a:pt x="1122095" y="353598"/>
                      <a:pt x="1073588" y="353598"/>
                    </a:cubicBezTo>
                    <a:lnTo>
                      <a:pt x="87831" y="353598"/>
                    </a:lnTo>
                    <a:cubicBezTo>
                      <a:pt x="39323" y="353598"/>
                      <a:pt x="0" y="314275"/>
                      <a:pt x="0" y="265767"/>
                    </a:cubicBezTo>
                    <a:lnTo>
                      <a:pt x="0" y="87831"/>
                    </a:lnTo>
                    <a:cubicBezTo>
                      <a:pt x="0" y="39323"/>
                      <a:pt x="39323" y="0"/>
                      <a:pt x="87831" y="0"/>
                    </a:cubicBezTo>
                    <a:close/>
                  </a:path>
                </a:pathLst>
              </a:custGeom>
              <a:solidFill>
                <a:srgbClr val="9B2121"/>
              </a:solidFill>
              <a:ln w="38100" cap="rnd">
                <a:solidFill>
                  <a:srgbClr val="9B2121"/>
                </a:solidFill>
                <a:prstDash val="solid"/>
                <a:round/>
              </a:ln>
            </p:spPr>
          </p:sp>
          <p:sp>
            <p:nvSpPr>
              <p:cNvPr name="TextBox 9" id="9"/>
              <p:cNvSpPr txBox="true"/>
              <p:nvPr/>
            </p:nvSpPr>
            <p:spPr>
              <a:xfrm>
                <a:off x="0" y="-47625"/>
                <a:ext cx="1161418" cy="401223"/>
              </a:xfrm>
              <a:prstGeom prst="rect">
                <a:avLst/>
              </a:prstGeom>
            </p:spPr>
            <p:txBody>
              <a:bodyPr anchor="ctr" rtlCol="false" tIns="50800" lIns="50800" bIns="50800" rIns="50800"/>
              <a:lstStyle/>
              <a:p>
                <a:pPr algn="ctr">
                  <a:lnSpc>
                    <a:spcPts val="3119"/>
                  </a:lnSpc>
                </a:pPr>
              </a:p>
            </p:txBody>
          </p:sp>
        </p:grpSp>
        <p:sp>
          <p:nvSpPr>
            <p:cNvPr name="TextBox 10" id="10"/>
            <p:cNvSpPr txBox="true"/>
            <p:nvPr/>
          </p:nvSpPr>
          <p:spPr>
            <a:xfrm rot="0">
              <a:off x="60271" y="-80155"/>
              <a:ext cx="4143055" cy="1335167"/>
            </a:xfrm>
            <a:prstGeom prst="rect">
              <a:avLst/>
            </a:prstGeom>
          </p:spPr>
          <p:txBody>
            <a:bodyPr anchor="t" rtlCol="false" tIns="0" lIns="0" bIns="0" rIns="0">
              <a:spAutoFit/>
            </a:bodyPr>
            <a:lstStyle/>
            <a:p>
              <a:pPr algn="ctr">
                <a:lnSpc>
                  <a:spcPts val="4160"/>
                </a:lnSpc>
              </a:pPr>
              <a:r>
                <a:rPr lang="en-US" sz="2600">
                  <a:solidFill>
                    <a:srgbClr val="FFFFFF"/>
                  </a:solidFill>
                  <a:latin typeface="Poppins"/>
                  <a:ea typeface="Poppins"/>
                  <a:cs typeface="Poppins"/>
                  <a:sym typeface="Poppins"/>
                </a:rPr>
                <a:t>Kolom: 122</a:t>
              </a:r>
            </a:p>
            <a:p>
              <a:pPr algn="ctr">
                <a:lnSpc>
                  <a:spcPts val="4160"/>
                </a:lnSpc>
              </a:pPr>
              <a:r>
                <a:rPr lang="en-US" sz="2600">
                  <a:solidFill>
                    <a:srgbClr val="FFFFFF"/>
                  </a:solidFill>
                  <a:latin typeface="Poppins"/>
                  <a:ea typeface="Poppins"/>
                  <a:cs typeface="Poppins"/>
                  <a:sym typeface="Poppins"/>
                </a:rPr>
                <a:t>Baris: 307.511</a:t>
              </a:r>
            </a:p>
          </p:txBody>
        </p:sp>
      </p:grpSp>
      <p:grpSp>
        <p:nvGrpSpPr>
          <p:cNvPr name="Group 11" id="11"/>
          <p:cNvGrpSpPr/>
          <p:nvPr/>
        </p:nvGrpSpPr>
        <p:grpSpPr>
          <a:xfrm rot="0">
            <a:off x="10474924" y="4176631"/>
            <a:ext cx="3393412" cy="958362"/>
            <a:chOff x="0" y="0"/>
            <a:chExt cx="4524549" cy="1277816"/>
          </a:xfrm>
        </p:grpSpPr>
        <p:grpSp>
          <p:nvGrpSpPr>
            <p:cNvPr name="Group 12" id="12"/>
            <p:cNvGrpSpPr/>
            <p:nvPr/>
          </p:nvGrpSpPr>
          <p:grpSpPr>
            <a:xfrm rot="0">
              <a:off x="0" y="0"/>
              <a:ext cx="4524549" cy="1277816"/>
              <a:chOff x="0" y="0"/>
              <a:chExt cx="1490398" cy="420916"/>
            </a:xfrm>
          </p:grpSpPr>
          <p:sp>
            <p:nvSpPr>
              <p:cNvPr name="Freeform 13" id="13"/>
              <p:cNvSpPr/>
              <p:nvPr/>
            </p:nvSpPr>
            <p:spPr>
              <a:xfrm flipH="false" flipV="false" rot="0">
                <a:off x="0" y="0"/>
                <a:ext cx="1490398" cy="420916"/>
              </a:xfrm>
              <a:custGeom>
                <a:avLst/>
                <a:gdLst/>
                <a:ahLst/>
                <a:cxnLst/>
                <a:rect r="r" b="b" t="t" l="l"/>
                <a:pathLst>
                  <a:path h="420916" w="1490398">
                    <a:moveTo>
                      <a:pt x="68444" y="0"/>
                    </a:moveTo>
                    <a:lnTo>
                      <a:pt x="1421954" y="0"/>
                    </a:lnTo>
                    <a:cubicBezTo>
                      <a:pt x="1459755" y="0"/>
                      <a:pt x="1490398" y="30643"/>
                      <a:pt x="1490398" y="68444"/>
                    </a:cubicBezTo>
                    <a:lnTo>
                      <a:pt x="1490398" y="352472"/>
                    </a:lnTo>
                    <a:cubicBezTo>
                      <a:pt x="1490398" y="390273"/>
                      <a:pt x="1459755" y="420916"/>
                      <a:pt x="1421954" y="420916"/>
                    </a:cubicBezTo>
                    <a:lnTo>
                      <a:pt x="68444" y="420916"/>
                    </a:lnTo>
                    <a:cubicBezTo>
                      <a:pt x="30643" y="420916"/>
                      <a:pt x="0" y="390273"/>
                      <a:pt x="0" y="352472"/>
                    </a:cubicBezTo>
                    <a:lnTo>
                      <a:pt x="0" y="68444"/>
                    </a:lnTo>
                    <a:cubicBezTo>
                      <a:pt x="0" y="30643"/>
                      <a:pt x="30643" y="0"/>
                      <a:pt x="68444" y="0"/>
                    </a:cubicBezTo>
                    <a:close/>
                  </a:path>
                </a:pathLst>
              </a:custGeom>
              <a:solidFill>
                <a:srgbClr val="9B2121"/>
              </a:solidFill>
              <a:ln w="38100" cap="rnd">
                <a:solidFill>
                  <a:srgbClr val="9B2121"/>
                </a:solidFill>
                <a:prstDash val="solid"/>
                <a:round/>
              </a:ln>
            </p:spPr>
          </p:sp>
          <p:sp>
            <p:nvSpPr>
              <p:cNvPr name="TextBox 14" id="14"/>
              <p:cNvSpPr txBox="true"/>
              <p:nvPr/>
            </p:nvSpPr>
            <p:spPr>
              <a:xfrm>
                <a:off x="0" y="-47625"/>
                <a:ext cx="1490398" cy="468541"/>
              </a:xfrm>
              <a:prstGeom prst="rect">
                <a:avLst/>
              </a:prstGeom>
            </p:spPr>
            <p:txBody>
              <a:bodyPr anchor="ctr" rtlCol="false" tIns="50800" lIns="50800" bIns="50800" rIns="50800"/>
              <a:lstStyle/>
              <a:p>
                <a:pPr algn="ctr">
                  <a:lnSpc>
                    <a:spcPts val="3120"/>
                  </a:lnSpc>
                </a:pPr>
              </a:p>
            </p:txBody>
          </p:sp>
        </p:grpSp>
        <p:sp>
          <p:nvSpPr>
            <p:cNvPr name="TextBox 15" id="15"/>
            <p:cNvSpPr txBox="true"/>
            <p:nvPr/>
          </p:nvSpPr>
          <p:spPr>
            <a:xfrm rot="0">
              <a:off x="64402" y="-85868"/>
              <a:ext cx="4427017" cy="1335252"/>
            </a:xfrm>
            <a:prstGeom prst="rect">
              <a:avLst/>
            </a:prstGeom>
          </p:spPr>
          <p:txBody>
            <a:bodyPr anchor="t" rtlCol="false" tIns="0" lIns="0" bIns="0" rIns="0">
              <a:spAutoFit/>
            </a:bodyPr>
            <a:lstStyle/>
            <a:p>
              <a:pPr algn="ctr">
                <a:lnSpc>
                  <a:spcPts val="4158"/>
                </a:lnSpc>
              </a:pPr>
              <a:r>
                <a:rPr lang="en-US" sz="2599">
                  <a:solidFill>
                    <a:srgbClr val="FFFFFF"/>
                  </a:solidFill>
                  <a:latin typeface="Poppins"/>
                  <a:ea typeface="Poppins"/>
                  <a:cs typeface="Poppins"/>
                  <a:sym typeface="Poppins"/>
                </a:rPr>
                <a:t>Kategorik: 16</a:t>
              </a:r>
            </a:p>
            <a:p>
              <a:pPr algn="ctr">
                <a:lnSpc>
                  <a:spcPts val="4158"/>
                </a:lnSpc>
              </a:pPr>
              <a:r>
                <a:rPr lang="en-US" sz="2599">
                  <a:solidFill>
                    <a:srgbClr val="FFFFFF"/>
                  </a:solidFill>
                  <a:latin typeface="Poppins"/>
                  <a:ea typeface="Poppins"/>
                  <a:cs typeface="Poppins"/>
                  <a:sym typeface="Poppins"/>
                </a:rPr>
                <a:t>Numerik: 106</a:t>
              </a:r>
            </a:p>
          </p:txBody>
        </p:sp>
      </p:grpSp>
      <p:sp>
        <p:nvSpPr>
          <p:cNvPr name="TextBox 16" id="16"/>
          <p:cNvSpPr txBox="true"/>
          <p:nvPr/>
        </p:nvSpPr>
        <p:spPr>
          <a:xfrm rot="0">
            <a:off x="1852097" y="6132684"/>
            <a:ext cx="14583806" cy="2576830"/>
          </a:xfrm>
          <a:prstGeom prst="rect">
            <a:avLst/>
          </a:prstGeom>
        </p:spPr>
        <p:txBody>
          <a:bodyPr anchor="t" rtlCol="false" tIns="0" lIns="0" bIns="0" rIns="0">
            <a:spAutoFit/>
          </a:bodyPr>
          <a:lstStyle/>
          <a:p>
            <a:pPr algn="just">
              <a:lnSpc>
                <a:spcPts val="3380"/>
              </a:lnSpc>
            </a:pPr>
            <a:r>
              <a:rPr lang="en-US" sz="2600">
                <a:solidFill>
                  <a:srgbClr val="9B2121"/>
                </a:solidFill>
                <a:latin typeface="Poppins"/>
                <a:ea typeface="Poppins"/>
                <a:cs typeface="Poppins"/>
                <a:sym typeface="Poppins"/>
              </a:rPr>
              <a:t>Dataset yang digunakan dalam proyek ini adalah Home Credit Default Risk dataset, yang terdiri dari 307,511 entri dengan berbagai fitur terkait dengan karakteristik pemohon pinjaman, termasuk informasi mengenai pendapatan, jumlah pinjaman, status keluarga, dan riwayat pinjaman sebelumnya. Target variabel dalam dataset ini adalah kolom TARGET, yang menunjukkan apakah seorang pemohon mengalami kesulitan membayar pinjaman (1) atau tidak (0).</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1028700" y="2051867"/>
            <a:ext cx="6870645" cy="5444987"/>
          </a:xfrm>
          <a:custGeom>
            <a:avLst/>
            <a:gdLst/>
            <a:ahLst/>
            <a:cxnLst/>
            <a:rect r="r" b="b" t="t" l="l"/>
            <a:pathLst>
              <a:path h="5444987" w="6870645">
                <a:moveTo>
                  <a:pt x="0" y="0"/>
                </a:moveTo>
                <a:lnTo>
                  <a:pt x="6870645" y="0"/>
                </a:lnTo>
                <a:lnTo>
                  <a:pt x="6870645" y="5444987"/>
                </a:lnTo>
                <a:lnTo>
                  <a:pt x="0" y="5444987"/>
                </a:lnTo>
                <a:lnTo>
                  <a:pt x="0" y="0"/>
                </a:lnTo>
                <a:close/>
              </a:path>
            </a:pathLst>
          </a:custGeom>
          <a:blipFill>
            <a:blip r:embed="rId3"/>
            <a:stretch>
              <a:fillRect l="0" t="0" r="0" b="0"/>
            </a:stretch>
          </a:blipFill>
        </p:spPr>
      </p:sp>
      <p:sp>
        <p:nvSpPr>
          <p:cNvPr name="Freeform 4" id="4"/>
          <p:cNvSpPr/>
          <p:nvPr/>
        </p:nvSpPr>
        <p:spPr>
          <a:xfrm flipH="false" flipV="false" rot="0">
            <a:off x="9845056" y="2051867"/>
            <a:ext cx="7841889" cy="5444987"/>
          </a:xfrm>
          <a:custGeom>
            <a:avLst/>
            <a:gdLst/>
            <a:ahLst/>
            <a:cxnLst/>
            <a:rect r="r" b="b" t="t" l="l"/>
            <a:pathLst>
              <a:path h="5444987" w="7841889">
                <a:moveTo>
                  <a:pt x="0" y="0"/>
                </a:moveTo>
                <a:lnTo>
                  <a:pt x="7841889" y="0"/>
                </a:lnTo>
                <a:lnTo>
                  <a:pt x="7841889" y="5444987"/>
                </a:lnTo>
                <a:lnTo>
                  <a:pt x="0" y="5444987"/>
                </a:lnTo>
                <a:lnTo>
                  <a:pt x="0" y="0"/>
                </a:lnTo>
                <a:close/>
              </a:path>
            </a:pathLst>
          </a:custGeom>
          <a:blipFill>
            <a:blip r:embed="rId4"/>
            <a:stretch>
              <a:fillRect l="0" t="0" r="0" b="0"/>
            </a:stretch>
          </a:blipFill>
        </p:spPr>
      </p:sp>
      <p:sp>
        <p:nvSpPr>
          <p:cNvPr name="TextBox 5" id="5"/>
          <p:cNvSpPr txBox="true"/>
          <p:nvPr/>
        </p:nvSpPr>
        <p:spPr>
          <a:xfrm rot="0">
            <a:off x="4464023" y="409575"/>
            <a:ext cx="8820041" cy="1228725"/>
          </a:xfrm>
          <a:prstGeom prst="rect">
            <a:avLst/>
          </a:prstGeom>
        </p:spPr>
        <p:txBody>
          <a:bodyPr anchor="t" rtlCol="false" tIns="0" lIns="0" bIns="0" rIns="0">
            <a:spAutoFit/>
          </a:bodyPr>
          <a:lstStyle/>
          <a:p>
            <a:pPr algn="ctr">
              <a:lnSpc>
                <a:spcPts val="9600"/>
              </a:lnSpc>
            </a:pPr>
            <a:r>
              <a:rPr lang="en-US" sz="8000">
                <a:solidFill>
                  <a:srgbClr val="9B2121"/>
                </a:solidFill>
                <a:latin typeface="Open Sauce"/>
                <a:ea typeface="Open Sauce"/>
                <a:cs typeface="Open Sauce"/>
                <a:sym typeface="Open Sauce"/>
              </a:rPr>
              <a:t>Data Visualization</a:t>
            </a:r>
          </a:p>
        </p:txBody>
      </p:sp>
      <p:grpSp>
        <p:nvGrpSpPr>
          <p:cNvPr name="Group 6" id="6"/>
          <p:cNvGrpSpPr/>
          <p:nvPr/>
        </p:nvGrpSpPr>
        <p:grpSpPr>
          <a:xfrm rot="0">
            <a:off x="477428" y="7906429"/>
            <a:ext cx="7804944" cy="1963420"/>
            <a:chOff x="0" y="0"/>
            <a:chExt cx="2055623" cy="517115"/>
          </a:xfrm>
        </p:grpSpPr>
        <p:sp>
          <p:nvSpPr>
            <p:cNvPr name="Freeform 7" id="7"/>
            <p:cNvSpPr/>
            <p:nvPr/>
          </p:nvSpPr>
          <p:spPr>
            <a:xfrm flipH="false" flipV="false" rot="0">
              <a:off x="0" y="0"/>
              <a:ext cx="2055623" cy="517115"/>
            </a:xfrm>
            <a:custGeom>
              <a:avLst/>
              <a:gdLst/>
              <a:ahLst/>
              <a:cxnLst/>
              <a:rect r="r" b="b" t="t" l="l"/>
              <a:pathLst>
                <a:path h="517115" w="2055623">
                  <a:moveTo>
                    <a:pt x="29758" y="0"/>
                  </a:moveTo>
                  <a:lnTo>
                    <a:pt x="2025865" y="0"/>
                  </a:lnTo>
                  <a:cubicBezTo>
                    <a:pt x="2033758" y="0"/>
                    <a:pt x="2041327" y="3135"/>
                    <a:pt x="2046907" y="8716"/>
                  </a:cubicBezTo>
                  <a:cubicBezTo>
                    <a:pt x="2052488" y="14297"/>
                    <a:pt x="2055623" y="21866"/>
                    <a:pt x="2055623" y="29758"/>
                  </a:cubicBezTo>
                  <a:lnTo>
                    <a:pt x="2055623" y="487357"/>
                  </a:lnTo>
                  <a:cubicBezTo>
                    <a:pt x="2055623" y="495249"/>
                    <a:pt x="2052488" y="502818"/>
                    <a:pt x="2046907" y="508399"/>
                  </a:cubicBezTo>
                  <a:cubicBezTo>
                    <a:pt x="2041327" y="513980"/>
                    <a:pt x="2033758" y="517115"/>
                    <a:pt x="2025865" y="517115"/>
                  </a:cubicBezTo>
                  <a:lnTo>
                    <a:pt x="29758" y="517115"/>
                  </a:lnTo>
                  <a:cubicBezTo>
                    <a:pt x="21866" y="517115"/>
                    <a:pt x="14297" y="513980"/>
                    <a:pt x="8716" y="508399"/>
                  </a:cubicBezTo>
                  <a:cubicBezTo>
                    <a:pt x="3135" y="502818"/>
                    <a:pt x="0" y="495249"/>
                    <a:pt x="0" y="487357"/>
                  </a:cubicBezTo>
                  <a:lnTo>
                    <a:pt x="0" y="29758"/>
                  </a:lnTo>
                  <a:cubicBezTo>
                    <a:pt x="0" y="21866"/>
                    <a:pt x="3135" y="14297"/>
                    <a:pt x="8716" y="8716"/>
                  </a:cubicBezTo>
                  <a:cubicBezTo>
                    <a:pt x="14297" y="3135"/>
                    <a:pt x="21866" y="0"/>
                    <a:pt x="29758" y="0"/>
                  </a:cubicBezTo>
                  <a:close/>
                </a:path>
              </a:pathLst>
            </a:custGeom>
            <a:solidFill>
              <a:srgbClr val="9B2121"/>
            </a:solidFill>
            <a:ln w="38100" cap="rnd">
              <a:solidFill>
                <a:srgbClr val="9B2121"/>
              </a:solidFill>
              <a:prstDash val="solid"/>
              <a:round/>
            </a:ln>
          </p:spPr>
        </p:sp>
        <p:sp>
          <p:nvSpPr>
            <p:cNvPr name="TextBox 8" id="8"/>
            <p:cNvSpPr txBox="true"/>
            <p:nvPr/>
          </p:nvSpPr>
          <p:spPr>
            <a:xfrm>
              <a:off x="0" y="-47625"/>
              <a:ext cx="2055623" cy="564740"/>
            </a:xfrm>
            <a:prstGeom prst="rect">
              <a:avLst/>
            </a:prstGeom>
          </p:spPr>
          <p:txBody>
            <a:bodyPr anchor="ctr" rtlCol="false" tIns="50800" lIns="50800" bIns="50800" rIns="50800"/>
            <a:lstStyle/>
            <a:p>
              <a:pPr algn="ctr">
                <a:lnSpc>
                  <a:spcPts val="3120"/>
                </a:lnSpc>
              </a:pPr>
            </a:p>
          </p:txBody>
        </p:sp>
      </p:grpSp>
      <p:sp>
        <p:nvSpPr>
          <p:cNvPr name="TextBox 9" id="9"/>
          <p:cNvSpPr txBox="true"/>
          <p:nvPr/>
        </p:nvSpPr>
        <p:spPr>
          <a:xfrm rot="0">
            <a:off x="588523" y="7827689"/>
            <a:ext cx="7636699" cy="2006600"/>
          </a:xfrm>
          <a:prstGeom prst="rect">
            <a:avLst/>
          </a:prstGeom>
        </p:spPr>
        <p:txBody>
          <a:bodyPr anchor="t" rtlCol="false" tIns="0" lIns="0" bIns="0" rIns="0">
            <a:spAutoFit/>
          </a:bodyPr>
          <a:lstStyle/>
          <a:p>
            <a:pPr algn="just">
              <a:lnSpc>
                <a:spcPts val="3999"/>
              </a:lnSpc>
            </a:pPr>
            <a:r>
              <a:rPr lang="en-US" sz="2499">
                <a:solidFill>
                  <a:srgbClr val="FFFFFF"/>
                </a:solidFill>
                <a:latin typeface="Poppins"/>
                <a:ea typeface="Poppins"/>
                <a:cs typeface="Poppins"/>
                <a:sym typeface="Poppins"/>
              </a:rPr>
              <a:t>Korelasi antar fitur menunjukkan bahwa ada beberapa hubungan yang bisa digunakan untuk memprediksi kemungkinan gagal bayar pinjaman.</a:t>
            </a:r>
          </a:p>
        </p:txBody>
      </p:sp>
      <p:grpSp>
        <p:nvGrpSpPr>
          <p:cNvPr name="Group 10" id="10"/>
          <p:cNvGrpSpPr/>
          <p:nvPr/>
        </p:nvGrpSpPr>
        <p:grpSpPr>
          <a:xfrm rot="0">
            <a:off x="9695436" y="7854358"/>
            <a:ext cx="8141207" cy="1963420"/>
            <a:chOff x="0" y="0"/>
            <a:chExt cx="2144186" cy="517115"/>
          </a:xfrm>
        </p:grpSpPr>
        <p:sp>
          <p:nvSpPr>
            <p:cNvPr name="Freeform 11" id="11"/>
            <p:cNvSpPr/>
            <p:nvPr/>
          </p:nvSpPr>
          <p:spPr>
            <a:xfrm flipH="false" flipV="false" rot="0">
              <a:off x="0" y="0"/>
              <a:ext cx="2144186" cy="517115"/>
            </a:xfrm>
            <a:custGeom>
              <a:avLst/>
              <a:gdLst/>
              <a:ahLst/>
              <a:cxnLst/>
              <a:rect r="r" b="b" t="t" l="l"/>
              <a:pathLst>
                <a:path h="517115" w="2144186">
                  <a:moveTo>
                    <a:pt x="28529" y="0"/>
                  </a:moveTo>
                  <a:lnTo>
                    <a:pt x="2115657" y="0"/>
                  </a:lnTo>
                  <a:cubicBezTo>
                    <a:pt x="2131414" y="0"/>
                    <a:pt x="2144186" y="12773"/>
                    <a:pt x="2144186" y="28529"/>
                  </a:cubicBezTo>
                  <a:lnTo>
                    <a:pt x="2144186" y="488586"/>
                  </a:lnTo>
                  <a:cubicBezTo>
                    <a:pt x="2144186" y="504342"/>
                    <a:pt x="2131414" y="517115"/>
                    <a:pt x="2115657" y="517115"/>
                  </a:cubicBezTo>
                  <a:lnTo>
                    <a:pt x="28529" y="517115"/>
                  </a:lnTo>
                  <a:cubicBezTo>
                    <a:pt x="12773" y="517115"/>
                    <a:pt x="0" y="504342"/>
                    <a:pt x="0" y="488586"/>
                  </a:cubicBezTo>
                  <a:lnTo>
                    <a:pt x="0" y="28529"/>
                  </a:lnTo>
                  <a:cubicBezTo>
                    <a:pt x="0" y="12773"/>
                    <a:pt x="12773" y="0"/>
                    <a:pt x="28529" y="0"/>
                  </a:cubicBezTo>
                  <a:close/>
                </a:path>
              </a:pathLst>
            </a:custGeom>
            <a:solidFill>
              <a:srgbClr val="9B2121"/>
            </a:solidFill>
            <a:ln w="38100" cap="rnd">
              <a:solidFill>
                <a:srgbClr val="9B2121"/>
              </a:solidFill>
              <a:prstDash val="solid"/>
              <a:round/>
            </a:ln>
          </p:spPr>
        </p:sp>
        <p:sp>
          <p:nvSpPr>
            <p:cNvPr name="TextBox 12" id="12"/>
            <p:cNvSpPr txBox="true"/>
            <p:nvPr/>
          </p:nvSpPr>
          <p:spPr>
            <a:xfrm>
              <a:off x="0" y="-47625"/>
              <a:ext cx="2144186" cy="564740"/>
            </a:xfrm>
            <a:prstGeom prst="rect">
              <a:avLst/>
            </a:prstGeom>
          </p:spPr>
          <p:txBody>
            <a:bodyPr anchor="ctr" rtlCol="false" tIns="50800" lIns="50800" bIns="50800" rIns="50800"/>
            <a:lstStyle/>
            <a:p>
              <a:pPr algn="ctr">
                <a:lnSpc>
                  <a:spcPts val="3120"/>
                </a:lnSpc>
              </a:pPr>
            </a:p>
          </p:txBody>
        </p:sp>
      </p:grpSp>
      <p:sp>
        <p:nvSpPr>
          <p:cNvPr name="TextBox 13" id="13"/>
          <p:cNvSpPr txBox="true"/>
          <p:nvPr/>
        </p:nvSpPr>
        <p:spPr>
          <a:xfrm rot="0">
            <a:off x="9845056" y="7792129"/>
            <a:ext cx="7841889" cy="2006600"/>
          </a:xfrm>
          <a:prstGeom prst="rect">
            <a:avLst/>
          </a:prstGeom>
        </p:spPr>
        <p:txBody>
          <a:bodyPr anchor="t" rtlCol="false" tIns="0" lIns="0" bIns="0" rIns="0">
            <a:spAutoFit/>
          </a:bodyPr>
          <a:lstStyle/>
          <a:p>
            <a:pPr algn="just">
              <a:lnSpc>
                <a:spcPts val="3999"/>
              </a:lnSpc>
            </a:pPr>
            <a:r>
              <a:rPr lang="en-US" sz="2499">
                <a:solidFill>
                  <a:srgbClr val="FFFFFF"/>
                </a:solidFill>
                <a:latin typeface="Poppins"/>
                <a:ea typeface="Poppins"/>
                <a:cs typeface="Poppins"/>
                <a:sym typeface="Poppins"/>
              </a:rPr>
              <a:t>Distribusi target yang sangat tidak seimbang menandakan bahwa penanganan lebih lanjut diperlukan untuk memastikan model dapat mendeteksi kelas 1 dengan lebih efektif.</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true" rot="-1634637">
            <a:off x="2213433" y="4418319"/>
            <a:ext cx="20657474" cy="6885825"/>
          </a:xfrm>
          <a:custGeom>
            <a:avLst/>
            <a:gdLst/>
            <a:ahLst/>
            <a:cxnLst/>
            <a:rect r="r" b="b" t="t" l="l"/>
            <a:pathLst>
              <a:path h="6885825" w="20657474">
                <a:moveTo>
                  <a:pt x="0" y="6885825"/>
                </a:moveTo>
                <a:lnTo>
                  <a:pt x="20657474" y="6885825"/>
                </a:lnTo>
                <a:lnTo>
                  <a:pt x="20657474" y="0"/>
                </a:lnTo>
                <a:lnTo>
                  <a:pt x="0" y="0"/>
                </a:lnTo>
                <a:lnTo>
                  <a:pt x="0" y="6885825"/>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870411" y="3539607"/>
            <a:ext cx="5086855" cy="530225"/>
          </a:xfrm>
          <a:prstGeom prst="rect">
            <a:avLst/>
          </a:prstGeom>
        </p:spPr>
        <p:txBody>
          <a:bodyPr anchor="t" rtlCol="false" tIns="0" lIns="0" bIns="0" rIns="0">
            <a:spAutoFit/>
          </a:bodyPr>
          <a:lstStyle/>
          <a:p>
            <a:pPr algn="ctr">
              <a:lnSpc>
                <a:spcPts val="3999"/>
              </a:lnSpc>
            </a:pPr>
            <a:r>
              <a:rPr lang="en-US" sz="3999" b="true">
                <a:solidFill>
                  <a:srgbClr val="9B2121"/>
                </a:solidFill>
                <a:latin typeface="Open Sauce Bold"/>
                <a:ea typeface="Open Sauce Bold"/>
                <a:cs typeface="Open Sauce Bold"/>
                <a:sym typeface="Open Sauce Bold"/>
              </a:rPr>
              <a:t>Feature Enginnering</a:t>
            </a:r>
          </a:p>
        </p:txBody>
      </p:sp>
      <p:sp>
        <p:nvSpPr>
          <p:cNvPr name="TextBox 5" id="5"/>
          <p:cNvSpPr txBox="true"/>
          <p:nvPr/>
        </p:nvSpPr>
        <p:spPr>
          <a:xfrm rot="0">
            <a:off x="4413839" y="1171575"/>
            <a:ext cx="9534662" cy="1069976"/>
          </a:xfrm>
          <a:prstGeom prst="rect">
            <a:avLst/>
          </a:prstGeom>
        </p:spPr>
        <p:txBody>
          <a:bodyPr anchor="t" rtlCol="false" tIns="0" lIns="0" bIns="0" rIns="0">
            <a:spAutoFit/>
          </a:bodyPr>
          <a:lstStyle/>
          <a:p>
            <a:pPr algn="ctr">
              <a:lnSpc>
                <a:spcPts val="8000"/>
              </a:lnSpc>
            </a:pPr>
            <a:r>
              <a:rPr lang="en-US" sz="8000">
                <a:solidFill>
                  <a:srgbClr val="9B2121"/>
                </a:solidFill>
                <a:latin typeface="Open Sauce"/>
                <a:ea typeface="Open Sauce"/>
                <a:cs typeface="Open Sauce"/>
                <a:sym typeface="Open Sauce"/>
              </a:rPr>
              <a:t>Data Prepocessing</a:t>
            </a:r>
          </a:p>
        </p:txBody>
      </p:sp>
      <p:grpSp>
        <p:nvGrpSpPr>
          <p:cNvPr name="Group 6" id="6"/>
          <p:cNvGrpSpPr/>
          <p:nvPr/>
        </p:nvGrpSpPr>
        <p:grpSpPr>
          <a:xfrm rot="0">
            <a:off x="2222780" y="4298432"/>
            <a:ext cx="4401167" cy="1149471"/>
            <a:chOff x="0" y="0"/>
            <a:chExt cx="1159155" cy="302741"/>
          </a:xfrm>
        </p:grpSpPr>
        <p:sp>
          <p:nvSpPr>
            <p:cNvPr name="Freeform 7" id="7"/>
            <p:cNvSpPr/>
            <p:nvPr/>
          </p:nvSpPr>
          <p:spPr>
            <a:xfrm flipH="false" flipV="false" rot="0">
              <a:off x="0" y="0"/>
              <a:ext cx="1159155" cy="302741"/>
            </a:xfrm>
            <a:custGeom>
              <a:avLst/>
              <a:gdLst/>
              <a:ahLst/>
              <a:cxnLst/>
              <a:rect r="r" b="b" t="t" l="l"/>
              <a:pathLst>
                <a:path h="302741" w="1159155">
                  <a:moveTo>
                    <a:pt x="52772" y="0"/>
                  </a:moveTo>
                  <a:lnTo>
                    <a:pt x="1106383" y="0"/>
                  </a:lnTo>
                  <a:cubicBezTo>
                    <a:pt x="1120379" y="0"/>
                    <a:pt x="1133802" y="5560"/>
                    <a:pt x="1143699" y="15457"/>
                  </a:cubicBezTo>
                  <a:cubicBezTo>
                    <a:pt x="1153595" y="25353"/>
                    <a:pt x="1159155" y="38776"/>
                    <a:pt x="1159155" y="52772"/>
                  </a:cubicBezTo>
                  <a:lnTo>
                    <a:pt x="1159155" y="249970"/>
                  </a:lnTo>
                  <a:cubicBezTo>
                    <a:pt x="1159155" y="263965"/>
                    <a:pt x="1153595" y="277388"/>
                    <a:pt x="1143699" y="287285"/>
                  </a:cubicBezTo>
                  <a:cubicBezTo>
                    <a:pt x="1133802" y="297181"/>
                    <a:pt x="1120379" y="302741"/>
                    <a:pt x="1106383" y="302741"/>
                  </a:cubicBezTo>
                  <a:lnTo>
                    <a:pt x="52772" y="302741"/>
                  </a:lnTo>
                  <a:cubicBezTo>
                    <a:pt x="38776" y="302741"/>
                    <a:pt x="25353" y="297181"/>
                    <a:pt x="15457" y="287285"/>
                  </a:cubicBezTo>
                  <a:cubicBezTo>
                    <a:pt x="5560" y="277388"/>
                    <a:pt x="0" y="263965"/>
                    <a:pt x="0" y="249970"/>
                  </a:cubicBezTo>
                  <a:lnTo>
                    <a:pt x="0" y="52772"/>
                  </a:lnTo>
                  <a:cubicBezTo>
                    <a:pt x="0" y="38776"/>
                    <a:pt x="5560" y="25353"/>
                    <a:pt x="15457" y="15457"/>
                  </a:cubicBezTo>
                  <a:cubicBezTo>
                    <a:pt x="25353" y="5560"/>
                    <a:pt x="38776" y="0"/>
                    <a:pt x="52772" y="0"/>
                  </a:cubicBezTo>
                  <a:close/>
                </a:path>
              </a:pathLst>
            </a:custGeom>
            <a:solidFill>
              <a:srgbClr val="9B2121"/>
            </a:solidFill>
            <a:ln w="38100" cap="rnd">
              <a:solidFill>
                <a:srgbClr val="9B2121"/>
              </a:solidFill>
              <a:prstDash val="solid"/>
              <a:round/>
            </a:ln>
          </p:spPr>
        </p:sp>
        <p:sp>
          <p:nvSpPr>
            <p:cNvPr name="TextBox 8" id="8"/>
            <p:cNvSpPr txBox="true"/>
            <p:nvPr/>
          </p:nvSpPr>
          <p:spPr>
            <a:xfrm>
              <a:off x="0" y="-47625"/>
              <a:ext cx="1159155" cy="350366"/>
            </a:xfrm>
            <a:prstGeom prst="rect">
              <a:avLst/>
            </a:prstGeom>
          </p:spPr>
          <p:txBody>
            <a:bodyPr anchor="ctr" rtlCol="false" tIns="50800" lIns="50800" bIns="50800" rIns="50800"/>
            <a:lstStyle/>
            <a:p>
              <a:pPr algn="ctr">
                <a:lnSpc>
                  <a:spcPts val="3120"/>
                </a:lnSpc>
              </a:pPr>
            </a:p>
          </p:txBody>
        </p:sp>
      </p:grpSp>
      <p:sp>
        <p:nvSpPr>
          <p:cNvPr name="TextBox 9" id="9"/>
          <p:cNvSpPr txBox="true"/>
          <p:nvPr/>
        </p:nvSpPr>
        <p:spPr>
          <a:xfrm rot="0">
            <a:off x="2203730" y="4355782"/>
            <a:ext cx="4420217" cy="862330"/>
          </a:xfrm>
          <a:prstGeom prst="rect">
            <a:avLst/>
          </a:prstGeom>
        </p:spPr>
        <p:txBody>
          <a:bodyPr anchor="t" rtlCol="false" tIns="0" lIns="0" bIns="0" rIns="0">
            <a:spAutoFit/>
          </a:bodyPr>
          <a:lstStyle/>
          <a:p>
            <a:pPr algn="ctr">
              <a:lnSpc>
                <a:spcPts val="3379"/>
              </a:lnSpc>
            </a:pPr>
            <a:r>
              <a:rPr lang="en-US" sz="2599">
                <a:solidFill>
                  <a:srgbClr val="FFFFFF"/>
                </a:solidFill>
                <a:latin typeface="Poppins"/>
                <a:ea typeface="Poppins"/>
                <a:cs typeface="Poppins"/>
                <a:sym typeface="Poppins"/>
              </a:rPr>
              <a:t>Mengubah kolom DAYS_BIRTH menjadi Usia.</a:t>
            </a:r>
          </a:p>
        </p:txBody>
      </p:sp>
      <p:sp>
        <p:nvSpPr>
          <p:cNvPr name="TextBox 10" id="10"/>
          <p:cNvSpPr txBox="true"/>
          <p:nvPr/>
        </p:nvSpPr>
        <p:spPr>
          <a:xfrm rot="0">
            <a:off x="9998742" y="3539607"/>
            <a:ext cx="5086855" cy="530225"/>
          </a:xfrm>
          <a:prstGeom prst="rect">
            <a:avLst/>
          </a:prstGeom>
        </p:spPr>
        <p:txBody>
          <a:bodyPr anchor="t" rtlCol="false" tIns="0" lIns="0" bIns="0" rIns="0">
            <a:spAutoFit/>
          </a:bodyPr>
          <a:lstStyle/>
          <a:p>
            <a:pPr algn="ctr">
              <a:lnSpc>
                <a:spcPts val="3999"/>
              </a:lnSpc>
            </a:pPr>
            <a:r>
              <a:rPr lang="en-US" sz="3999" b="true">
                <a:solidFill>
                  <a:srgbClr val="9B2121"/>
                </a:solidFill>
                <a:latin typeface="Open Sauce Bold"/>
                <a:ea typeface="Open Sauce Bold"/>
                <a:cs typeface="Open Sauce Bold"/>
                <a:sym typeface="Open Sauce Bold"/>
              </a:rPr>
              <a:t>Label Encoding</a:t>
            </a:r>
          </a:p>
        </p:txBody>
      </p:sp>
      <p:grpSp>
        <p:nvGrpSpPr>
          <p:cNvPr name="Group 11" id="11"/>
          <p:cNvGrpSpPr/>
          <p:nvPr/>
        </p:nvGrpSpPr>
        <p:grpSpPr>
          <a:xfrm rot="0">
            <a:off x="10351111" y="4298432"/>
            <a:ext cx="4964334" cy="1453987"/>
            <a:chOff x="0" y="0"/>
            <a:chExt cx="1307479" cy="382943"/>
          </a:xfrm>
        </p:grpSpPr>
        <p:sp>
          <p:nvSpPr>
            <p:cNvPr name="Freeform 12" id="12"/>
            <p:cNvSpPr/>
            <p:nvPr/>
          </p:nvSpPr>
          <p:spPr>
            <a:xfrm flipH="false" flipV="false" rot="0">
              <a:off x="0" y="0"/>
              <a:ext cx="1307479" cy="382943"/>
            </a:xfrm>
            <a:custGeom>
              <a:avLst/>
              <a:gdLst/>
              <a:ahLst/>
              <a:cxnLst/>
              <a:rect r="r" b="b" t="t" l="l"/>
              <a:pathLst>
                <a:path h="382943" w="1307479">
                  <a:moveTo>
                    <a:pt x="46785" y="0"/>
                  </a:moveTo>
                  <a:lnTo>
                    <a:pt x="1260694" y="0"/>
                  </a:lnTo>
                  <a:cubicBezTo>
                    <a:pt x="1286533" y="0"/>
                    <a:pt x="1307479" y="20946"/>
                    <a:pt x="1307479" y="46785"/>
                  </a:cubicBezTo>
                  <a:lnTo>
                    <a:pt x="1307479" y="336158"/>
                  </a:lnTo>
                  <a:cubicBezTo>
                    <a:pt x="1307479" y="348566"/>
                    <a:pt x="1302550" y="360466"/>
                    <a:pt x="1293776" y="369240"/>
                  </a:cubicBezTo>
                  <a:cubicBezTo>
                    <a:pt x="1285002" y="378014"/>
                    <a:pt x="1273102" y="382943"/>
                    <a:pt x="1260694" y="382943"/>
                  </a:cubicBezTo>
                  <a:lnTo>
                    <a:pt x="46785" y="382943"/>
                  </a:lnTo>
                  <a:cubicBezTo>
                    <a:pt x="20946" y="382943"/>
                    <a:pt x="0" y="361997"/>
                    <a:pt x="0" y="336158"/>
                  </a:cubicBezTo>
                  <a:lnTo>
                    <a:pt x="0" y="46785"/>
                  </a:lnTo>
                  <a:cubicBezTo>
                    <a:pt x="0" y="20946"/>
                    <a:pt x="20946" y="0"/>
                    <a:pt x="46785" y="0"/>
                  </a:cubicBezTo>
                  <a:close/>
                </a:path>
              </a:pathLst>
            </a:custGeom>
            <a:solidFill>
              <a:srgbClr val="9B2121"/>
            </a:solidFill>
            <a:ln w="38100" cap="rnd">
              <a:solidFill>
                <a:srgbClr val="9B2121"/>
              </a:solidFill>
              <a:prstDash val="solid"/>
              <a:round/>
            </a:ln>
          </p:spPr>
        </p:sp>
        <p:sp>
          <p:nvSpPr>
            <p:cNvPr name="TextBox 13" id="13"/>
            <p:cNvSpPr txBox="true"/>
            <p:nvPr/>
          </p:nvSpPr>
          <p:spPr>
            <a:xfrm>
              <a:off x="0" y="-47625"/>
              <a:ext cx="1307479" cy="430568"/>
            </a:xfrm>
            <a:prstGeom prst="rect">
              <a:avLst/>
            </a:prstGeom>
          </p:spPr>
          <p:txBody>
            <a:bodyPr anchor="ctr" rtlCol="false" tIns="50800" lIns="50800" bIns="50800" rIns="50800"/>
            <a:lstStyle/>
            <a:p>
              <a:pPr algn="ctr">
                <a:lnSpc>
                  <a:spcPts val="3120"/>
                </a:lnSpc>
              </a:pPr>
            </a:p>
          </p:txBody>
        </p:sp>
      </p:grpSp>
      <p:sp>
        <p:nvSpPr>
          <p:cNvPr name="TextBox 14" id="14"/>
          <p:cNvSpPr txBox="true"/>
          <p:nvPr/>
        </p:nvSpPr>
        <p:spPr>
          <a:xfrm rot="0">
            <a:off x="10332061" y="4355782"/>
            <a:ext cx="4753536" cy="1290955"/>
          </a:xfrm>
          <a:prstGeom prst="rect">
            <a:avLst/>
          </a:prstGeom>
        </p:spPr>
        <p:txBody>
          <a:bodyPr anchor="t" rtlCol="false" tIns="0" lIns="0" bIns="0" rIns="0">
            <a:spAutoFit/>
          </a:bodyPr>
          <a:lstStyle/>
          <a:p>
            <a:pPr algn="ctr">
              <a:lnSpc>
                <a:spcPts val="3379"/>
              </a:lnSpc>
            </a:pPr>
            <a:r>
              <a:rPr lang="en-US" sz="2599">
                <a:solidFill>
                  <a:srgbClr val="FFFFFF"/>
                </a:solidFill>
                <a:latin typeface="Poppins"/>
                <a:ea typeface="Poppins"/>
                <a:cs typeface="Poppins"/>
                <a:sym typeface="Poppins"/>
              </a:rPr>
              <a:t>Untuk variabel kategorikal seperti CODE_GENDER, NAME_CONTRACT_TYPE, dll.</a:t>
            </a:r>
          </a:p>
        </p:txBody>
      </p:sp>
      <p:sp>
        <p:nvSpPr>
          <p:cNvPr name="TextBox 15" id="15"/>
          <p:cNvSpPr txBox="true"/>
          <p:nvPr/>
        </p:nvSpPr>
        <p:spPr>
          <a:xfrm rot="0">
            <a:off x="1783150" y="6743303"/>
            <a:ext cx="5086855" cy="530225"/>
          </a:xfrm>
          <a:prstGeom prst="rect">
            <a:avLst/>
          </a:prstGeom>
        </p:spPr>
        <p:txBody>
          <a:bodyPr anchor="t" rtlCol="false" tIns="0" lIns="0" bIns="0" rIns="0">
            <a:spAutoFit/>
          </a:bodyPr>
          <a:lstStyle/>
          <a:p>
            <a:pPr algn="ctr">
              <a:lnSpc>
                <a:spcPts val="3999"/>
              </a:lnSpc>
            </a:pPr>
            <a:r>
              <a:rPr lang="en-US" sz="3999" b="true">
                <a:solidFill>
                  <a:srgbClr val="9B2121"/>
                </a:solidFill>
                <a:latin typeface="Open Sauce Bold"/>
                <a:ea typeface="Open Sauce Bold"/>
                <a:cs typeface="Open Sauce Bold"/>
                <a:sym typeface="Open Sauce Bold"/>
              </a:rPr>
              <a:t>Normalisasi Data</a:t>
            </a:r>
          </a:p>
        </p:txBody>
      </p:sp>
      <p:grpSp>
        <p:nvGrpSpPr>
          <p:cNvPr name="Group 16" id="16"/>
          <p:cNvGrpSpPr/>
          <p:nvPr/>
        </p:nvGrpSpPr>
        <p:grpSpPr>
          <a:xfrm rot="0">
            <a:off x="1967197" y="7502128"/>
            <a:ext cx="4999594" cy="1523943"/>
            <a:chOff x="0" y="0"/>
            <a:chExt cx="1316766" cy="401368"/>
          </a:xfrm>
        </p:grpSpPr>
        <p:sp>
          <p:nvSpPr>
            <p:cNvPr name="Freeform 17" id="17"/>
            <p:cNvSpPr/>
            <p:nvPr/>
          </p:nvSpPr>
          <p:spPr>
            <a:xfrm flipH="false" flipV="false" rot="0">
              <a:off x="0" y="0"/>
              <a:ext cx="1316766" cy="401368"/>
            </a:xfrm>
            <a:custGeom>
              <a:avLst/>
              <a:gdLst/>
              <a:ahLst/>
              <a:cxnLst/>
              <a:rect r="r" b="b" t="t" l="l"/>
              <a:pathLst>
                <a:path h="401368" w="1316766">
                  <a:moveTo>
                    <a:pt x="46455" y="0"/>
                  </a:moveTo>
                  <a:lnTo>
                    <a:pt x="1270310" y="0"/>
                  </a:lnTo>
                  <a:cubicBezTo>
                    <a:pt x="1282631" y="0"/>
                    <a:pt x="1294447" y="4894"/>
                    <a:pt x="1303159" y="13606"/>
                  </a:cubicBezTo>
                  <a:cubicBezTo>
                    <a:pt x="1311871" y="22318"/>
                    <a:pt x="1316766" y="34135"/>
                    <a:pt x="1316766" y="46455"/>
                  </a:cubicBezTo>
                  <a:lnTo>
                    <a:pt x="1316766" y="354912"/>
                  </a:lnTo>
                  <a:cubicBezTo>
                    <a:pt x="1316766" y="367233"/>
                    <a:pt x="1311871" y="379049"/>
                    <a:pt x="1303159" y="387761"/>
                  </a:cubicBezTo>
                  <a:cubicBezTo>
                    <a:pt x="1294447" y="396473"/>
                    <a:pt x="1282631" y="401368"/>
                    <a:pt x="1270310" y="401368"/>
                  </a:cubicBezTo>
                  <a:lnTo>
                    <a:pt x="46455" y="401368"/>
                  </a:lnTo>
                  <a:cubicBezTo>
                    <a:pt x="34135" y="401368"/>
                    <a:pt x="22318" y="396473"/>
                    <a:pt x="13606" y="387761"/>
                  </a:cubicBezTo>
                  <a:cubicBezTo>
                    <a:pt x="4894" y="379049"/>
                    <a:pt x="0" y="367233"/>
                    <a:pt x="0" y="354912"/>
                  </a:cubicBezTo>
                  <a:lnTo>
                    <a:pt x="0" y="46455"/>
                  </a:lnTo>
                  <a:cubicBezTo>
                    <a:pt x="0" y="34135"/>
                    <a:pt x="4894" y="22318"/>
                    <a:pt x="13606" y="13606"/>
                  </a:cubicBezTo>
                  <a:cubicBezTo>
                    <a:pt x="22318" y="4894"/>
                    <a:pt x="34135" y="0"/>
                    <a:pt x="46455" y="0"/>
                  </a:cubicBezTo>
                  <a:close/>
                </a:path>
              </a:pathLst>
            </a:custGeom>
            <a:solidFill>
              <a:srgbClr val="9B2121"/>
            </a:solidFill>
            <a:ln w="38100" cap="rnd">
              <a:solidFill>
                <a:srgbClr val="9B2121"/>
              </a:solidFill>
              <a:prstDash val="solid"/>
              <a:round/>
            </a:ln>
          </p:spPr>
        </p:sp>
        <p:sp>
          <p:nvSpPr>
            <p:cNvPr name="TextBox 18" id="18"/>
            <p:cNvSpPr txBox="true"/>
            <p:nvPr/>
          </p:nvSpPr>
          <p:spPr>
            <a:xfrm>
              <a:off x="0" y="-47625"/>
              <a:ext cx="1316766" cy="448993"/>
            </a:xfrm>
            <a:prstGeom prst="rect">
              <a:avLst/>
            </a:prstGeom>
          </p:spPr>
          <p:txBody>
            <a:bodyPr anchor="ctr" rtlCol="false" tIns="50800" lIns="50800" bIns="50800" rIns="50800"/>
            <a:lstStyle/>
            <a:p>
              <a:pPr algn="ctr">
                <a:lnSpc>
                  <a:spcPts val="3120"/>
                </a:lnSpc>
              </a:pPr>
            </a:p>
          </p:txBody>
        </p:sp>
      </p:grpSp>
      <p:sp>
        <p:nvSpPr>
          <p:cNvPr name="TextBox 19" id="19"/>
          <p:cNvSpPr txBox="true"/>
          <p:nvPr/>
        </p:nvSpPr>
        <p:spPr>
          <a:xfrm rot="0">
            <a:off x="2116469" y="7559478"/>
            <a:ext cx="4753536" cy="1290955"/>
          </a:xfrm>
          <a:prstGeom prst="rect">
            <a:avLst/>
          </a:prstGeom>
        </p:spPr>
        <p:txBody>
          <a:bodyPr anchor="t" rtlCol="false" tIns="0" lIns="0" bIns="0" rIns="0">
            <a:spAutoFit/>
          </a:bodyPr>
          <a:lstStyle/>
          <a:p>
            <a:pPr algn="ctr">
              <a:lnSpc>
                <a:spcPts val="3379"/>
              </a:lnSpc>
            </a:pPr>
            <a:r>
              <a:rPr lang="en-US" sz="2599">
                <a:solidFill>
                  <a:srgbClr val="FFFFFF"/>
                </a:solidFill>
                <a:latin typeface="Poppins"/>
                <a:ea typeface="Poppins"/>
                <a:cs typeface="Poppins"/>
                <a:sym typeface="Poppins"/>
              </a:rPr>
              <a:t>Menggunakan MinMaxScaler untuk menormalkan data numerik.</a:t>
            </a:r>
          </a:p>
        </p:txBody>
      </p:sp>
      <p:sp>
        <p:nvSpPr>
          <p:cNvPr name="TextBox 20" id="20"/>
          <p:cNvSpPr txBox="true"/>
          <p:nvPr/>
        </p:nvSpPr>
        <p:spPr>
          <a:xfrm rot="0">
            <a:off x="9206129" y="6743303"/>
            <a:ext cx="7005401" cy="530225"/>
          </a:xfrm>
          <a:prstGeom prst="rect">
            <a:avLst/>
          </a:prstGeom>
        </p:spPr>
        <p:txBody>
          <a:bodyPr anchor="t" rtlCol="false" tIns="0" lIns="0" bIns="0" rIns="0">
            <a:spAutoFit/>
          </a:bodyPr>
          <a:lstStyle/>
          <a:p>
            <a:pPr algn="ctr">
              <a:lnSpc>
                <a:spcPts val="3999"/>
              </a:lnSpc>
            </a:pPr>
            <a:r>
              <a:rPr lang="en-US" sz="3999" b="true">
                <a:solidFill>
                  <a:srgbClr val="9B2121"/>
                </a:solidFill>
                <a:latin typeface="Open Sauce Bold"/>
                <a:ea typeface="Open Sauce Bold"/>
                <a:cs typeface="Open Sauce Bold"/>
                <a:sym typeface="Open Sauce Bold"/>
              </a:rPr>
              <a:t>SMOTE dan Undersampling</a:t>
            </a:r>
          </a:p>
        </p:txBody>
      </p:sp>
      <p:grpSp>
        <p:nvGrpSpPr>
          <p:cNvPr name="Group 21" id="21"/>
          <p:cNvGrpSpPr/>
          <p:nvPr/>
        </p:nvGrpSpPr>
        <p:grpSpPr>
          <a:xfrm rot="0">
            <a:off x="10153517" y="7502128"/>
            <a:ext cx="5302372" cy="2205555"/>
            <a:chOff x="0" y="0"/>
            <a:chExt cx="1396509" cy="580887"/>
          </a:xfrm>
        </p:grpSpPr>
        <p:sp>
          <p:nvSpPr>
            <p:cNvPr name="Freeform 22" id="22"/>
            <p:cNvSpPr/>
            <p:nvPr/>
          </p:nvSpPr>
          <p:spPr>
            <a:xfrm flipH="false" flipV="false" rot="0">
              <a:off x="0" y="0"/>
              <a:ext cx="1396509" cy="580887"/>
            </a:xfrm>
            <a:custGeom>
              <a:avLst/>
              <a:gdLst/>
              <a:ahLst/>
              <a:cxnLst/>
              <a:rect r="r" b="b" t="t" l="l"/>
              <a:pathLst>
                <a:path h="580887" w="1396509">
                  <a:moveTo>
                    <a:pt x="43803" y="0"/>
                  </a:moveTo>
                  <a:lnTo>
                    <a:pt x="1352707" y="0"/>
                  </a:lnTo>
                  <a:cubicBezTo>
                    <a:pt x="1364324" y="0"/>
                    <a:pt x="1375465" y="4615"/>
                    <a:pt x="1383680" y="12829"/>
                  </a:cubicBezTo>
                  <a:cubicBezTo>
                    <a:pt x="1391894" y="21044"/>
                    <a:pt x="1396509" y="32185"/>
                    <a:pt x="1396509" y="43803"/>
                  </a:cubicBezTo>
                  <a:lnTo>
                    <a:pt x="1396509" y="537084"/>
                  </a:lnTo>
                  <a:cubicBezTo>
                    <a:pt x="1396509" y="561276"/>
                    <a:pt x="1376898" y="580887"/>
                    <a:pt x="1352707" y="580887"/>
                  </a:cubicBezTo>
                  <a:lnTo>
                    <a:pt x="43803" y="580887"/>
                  </a:lnTo>
                  <a:cubicBezTo>
                    <a:pt x="19611" y="580887"/>
                    <a:pt x="0" y="561276"/>
                    <a:pt x="0" y="537084"/>
                  </a:cubicBezTo>
                  <a:lnTo>
                    <a:pt x="0" y="43803"/>
                  </a:lnTo>
                  <a:cubicBezTo>
                    <a:pt x="0" y="19611"/>
                    <a:pt x="19611" y="0"/>
                    <a:pt x="43803" y="0"/>
                  </a:cubicBezTo>
                  <a:close/>
                </a:path>
              </a:pathLst>
            </a:custGeom>
            <a:solidFill>
              <a:srgbClr val="9B2121"/>
            </a:solidFill>
            <a:ln w="38100" cap="rnd">
              <a:solidFill>
                <a:srgbClr val="9B2121"/>
              </a:solidFill>
              <a:prstDash val="solid"/>
              <a:round/>
            </a:ln>
          </p:spPr>
        </p:sp>
        <p:sp>
          <p:nvSpPr>
            <p:cNvPr name="TextBox 23" id="23"/>
            <p:cNvSpPr txBox="true"/>
            <p:nvPr/>
          </p:nvSpPr>
          <p:spPr>
            <a:xfrm>
              <a:off x="0" y="-47625"/>
              <a:ext cx="1396509" cy="628512"/>
            </a:xfrm>
            <a:prstGeom prst="rect">
              <a:avLst/>
            </a:prstGeom>
          </p:spPr>
          <p:txBody>
            <a:bodyPr anchor="ctr" rtlCol="false" tIns="50800" lIns="50800" bIns="50800" rIns="50800"/>
            <a:lstStyle/>
            <a:p>
              <a:pPr algn="ctr">
                <a:lnSpc>
                  <a:spcPts val="3120"/>
                </a:lnSpc>
              </a:pPr>
            </a:p>
          </p:txBody>
        </p:sp>
      </p:grpSp>
      <p:sp>
        <p:nvSpPr>
          <p:cNvPr name="TextBox 24" id="24"/>
          <p:cNvSpPr txBox="true"/>
          <p:nvPr/>
        </p:nvSpPr>
        <p:spPr>
          <a:xfrm rot="0">
            <a:off x="10244800" y="7559478"/>
            <a:ext cx="5070646" cy="2148205"/>
          </a:xfrm>
          <a:prstGeom prst="rect">
            <a:avLst/>
          </a:prstGeom>
        </p:spPr>
        <p:txBody>
          <a:bodyPr anchor="t" rtlCol="false" tIns="0" lIns="0" bIns="0" rIns="0">
            <a:spAutoFit/>
          </a:bodyPr>
          <a:lstStyle/>
          <a:p>
            <a:pPr algn="ctr">
              <a:lnSpc>
                <a:spcPts val="3379"/>
              </a:lnSpc>
            </a:pPr>
            <a:r>
              <a:rPr lang="en-US" sz="2599">
                <a:solidFill>
                  <a:srgbClr val="FFFFFF"/>
                </a:solidFill>
                <a:latin typeface="Poppins"/>
                <a:ea typeface="Poppins"/>
                <a:cs typeface="Poppins"/>
                <a:sym typeface="Poppins"/>
              </a:rPr>
              <a:t>Untuk menangani ketidakseimbangan kelas dan memastikan model belajar dengan baik dari kelas minoritas.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aphicFrame>
        <p:nvGraphicFramePr>
          <p:cNvPr name="Table 3" id="3"/>
          <p:cNvGraphicFramePr>
            <a:graphicFrameLocks noGrp="true"/>
          </p:cNvGraphicFramePr>
          <p:nvPr/>
        </p:nvGraphicFramePr>
        <p:xfrm>
          <a:off x="1028700" y="2835078"/>
          <a:ext cx="16188498" cy="4762500"/>
        </p:xfrm>
        <a:graphic>
          <a:graphicData uri="http://schemas.openxmlformats.org/drawingml/2006/table">
            <a:tbl>
              <a:tblPr/>
              <a:tblGrid>
                <a:gridCol w="1028607"/>
                <a:gridCol w="3689865"/>
                <a:gridCol w="2063447"/>
                <a:gridCol w="2045470"/>
                <a:gridCol w="1462510"/>
                <a:gridCol w="1944216"/>
                <a:gridCol w="2252362"/>
                <a:gridCol w="1702023"/>
              </a:tblGrid>
              <a:tr h="1075403">
                <a:tc>
                  <a:txBody>
                    <a:bodyPr anchor="t" rtlCol="false"/>
                    <a:lstStyle/>
                    <a:p>
                      <a:pPr algn="ctr">
                        <a:lnSpc>
                          <a:spcPts val="3640"/>
                        </a:lnSpc>
                        <a:defRPr/>
                      </a:pPr>
                      <a:r>
                        <a:rPr lang="en-US" sz="2600" b="true">
                          <a:solidFill>
                            <a:srgbClr val="FFFFFF"/>
                          </a:solidFill>
                          <a:latin typeface="Poppins Bold"/>
                          <a:ea typeface="Poppins Bold"/>
                          <a:cs typeface="Poppins Bold"/>
                          <a:sym typeface="Poppins Bold"/>
                        </a:rPr>
                        <a:t>No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9B2121"/>
                    </a:solidFill>
                  </a:tcPr>
                </a:tc>
                <a:tc>
                  <a:txBody>
                    <a:bodyPr anchor="t" rtlCol="false"/>
                    <a:lstStyle/>
                    <a:p>
                      <a:pPr algn="ctr">
                        <a:lnSpc>
                          <a:spcPts val="3640"/>
                        </a:lnSpc>
                        <a:defRPr/>
                      </a:pPr>
                      <a:r>
                        <a:rPr lang="en-US" sz="2600" b="true">
                          <a:solidFill>
                            <a:srgbClr val="FFFFFF"/>
                          </a:solidFill>
                          <a:latin typeface="Poppins Bold"/>
                          <a:ea typeface="Poppins Bold"/>
                          <a:cs typeface="Poppins Bold"/>
                          <a:sym typeface="Poppins Bold"/>
                        </a:rPr>
                        <a:t>Algoritma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9B2121"/>
                    </a:solidFill>
                  </a:tcPr>
                </a:tc>
                <a:tc>
                  <a:txBody>
                    <a:bodyPr anchor="t" rtlCol="false"/>
                    <a:lstStyle/>
                    <a:p>
                      <a:pPr algn="ctr">
                        <a:lnSpc>
                          <a:spcPts val="3640"/>
                        </a:lnSpc>
                        <a:defRPr/>
                      </a:pPr>
                      <a:r>
                        <a:rPr lang="en-US" sz="2600" b="true">
                          <a:solidFill>
                            <a:srgbClr val="FFFFFF"/>
                          </a:solidFill>
                          <a:latin typeface="Poppins Bold"/>
                          <a:ea typeface="Poppins Bold"/>
                          <a:cs typeface="Poppins Bold"/>
                          <a:sym typeface="Poppins Bold"/>
                        </a:rPr>
                        <a:t>Accuracy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9B2121"/>
                    </a:solidFill>
                  </a:tcPr>
                </a:tc>
                <a:tc>
                  <a:txBody>
                    <a:bodyPr anchor="t" rtlCol="false"/>
                    <a:lstStyle/>
                    <a:p>
                      <a:pPr algn="ctr">
                        <a:lnSpc>
                          <a:spcPts val="3640"/>
                        </a:lnSpc>
                        <a:defRPr/>
                      </a:pPr>
                      <a:r>
                        <a:rPr lang="en-US" sz="2600" b="true">
                          <a:solidFill>
                            <a:srgbClr val="FFFFFF"/>
                          </a:solidFill>
                          <a:latin typeface="Poppins Bold"/>
                          <a:ea typeface="Poppins Bold"/>
                          <a:cs typeface="Poppins Bold"/>
                          <a:sym typeface="Poppins Bold"/>
                        </a:rPr>
                        <a:t>Precision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9B2121"/>
                    </a:solidFill>
                  </a:tcPr>
                </a:tc>
                <a:tc>
                  <a:txBody>
                    <a:bodyPr anchor="t" rtlCol="false"/>
                    <a:lstStyle/>
                    <a:p>
                      <a:pPr algn="ctr">
                        <a:lnSpc>
                          <a:spcPts val="3640"/>
                        </a:lnSpc>
                        <a:defRPr/>
                      </a:pPr>
                      <a:r>
                        <a:rPr lang="en-US" sz="2600" b="true">
                          <a:solidFill>
                            <a:srgbClr val="FFFFFF"/>
                          </a:solidFill>
                          <a:latin typeface="Poppins Bold"/>
                          <a:ea typeface="Poppins Bold"/>
                          <a:cs typeface="Poppins Bold"/>
                          <a:sym typeface="Poppins Bold"/>
                        </a:rPr>
                        <a:t>Recall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9B2121"/>
                    </a:solidFill>
                  </a:tcPr>
                </a:tc>
                <a:tc>
                  <a:txBody>
                    <a:bodyPr anchor="t" rtlCol="false"/>
                    <a:lstStyle/>
                    <a:p>
                      <a:pPr algn="ctr">
                        <a:lnSpc>
                          <a:spcPts val="3640"/>
                        </a:lnSpc>
                        <a:defRPr/>
                      </a:pPr>
                      <a:r>
                        <a:rPr lang="en-US" sz="2600" b="true">
                          <a:solidFill>
                            <a:srgbClr val="FFFFFF"/>
                          </a:solidFill>
                          <a:latin typeface="Poppins Bold"/>
                          <a:ea typeface="Poppins Bold"/>
                          <a:cs typeface="Poppins Bold"/>
                          <a:sym typeface="Poppins Bold"/>
                        </a:rPr>
                        <a:t>F1-Score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9B2121"/>
                    </a:solidFill>
                  </a:tcPr>
                </a:tc>
                <a:tc>
                  <a:txBody>
                    <a:bodyPr anchor="t" rtlCol="false"/>
                    <a:lstStyle/>
                    <a:p>
                      <a:pPr algn="ctr">
                        <a:lnSpc>
                          <a:spcPts val="3640"/>
                        </a:lnSpc>
                        <a:defRPr/>
                      </a:pPr>
                      <a:r>
                        <a:rPr lang="en-US" sz="2600" b="true">
                          <a:solidFill>
                            <a:srgbClr val="FFFFFF"/>
                          </a:solidFill>
                          <a:latin typeface="Poppins Bold"/>
                          <a:ea typeface="Poppins Bold"/>
                          <a:cs typeface="Poppins Bold"/>
                          <a:sym typeface="Poppins Bold"/>
                        </a:rPr>
                        <a:t>AUC-ROC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9B2121"/>
                    </a:solidFill>
                  </a:tcPr>
                </a:tc>
                <a:tc>
                  <a:txBody>
                    <a:bodyPr anchor="t" rtlCol="false"/>
                    <a:lstStyle/>
                    <a:p>
                      <a:pPr algn="ctr">
                        <a:lnSpc>
                          <a:spcPts val="3640"/>
                        </a:lnSpc>
                        <a:defRPr/>
                      </a:pPr>
                      <a:r>
                        <a:rPr lang="en-US" sz="2600" b="true">
                          <a:solidFill>
                            <a:srgbClr val="FFFFFF"/>
                          </a:solidFill>
                          <a:latin typeface="Poppins Bold"/>
                          <a:ea typeface="Poppins Bold"/>
                          <a:cs typeface="Poppins Bold"/>
                          <a:sym typeface="Poppins Bold"/>
                        </a:rPr>
                        <a:t>MCC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9B2121"/>
                    </a:solidFill>
                  </a:tcPr>
                </a:tc>
              </a:tr>
              <a:tr h="1075403">
                <a:tc>
                  <a:txBody>
                    <a:bodyPr anchor="t" rtlCol="false"/>
                    <a:lstStyle/>
                    <a:p>
                      <a:pPr algn="ctr">
                        <a:lnSpc>
                          <a:spcPts val="3640"/>
                        </a:lnSpc>
                        <a:defRPr/>
                      </a:pPr>
                      <a:r>
                        <a:rPr lang="en-US" sz="2600">
                          <a:solidFill>
                            <a:srgbClr val="9B2121"/>
                          </a:solidFill>
                          <a:latin typeface="Poppins"/>
                          <a:ea typeface="Poppins"/>
                          <a:cs typeface="Poppins"/>
                          <a:sym typeface="Poppins"/>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9B2121"/>
                          </a:solidFill>
                          <a:latin typeface="Poppins"/>
                          <a:ea typeface="Poppins"/>
                          <a:cs typeface="Poppins"/>
                          <a:sym typeface="Poppins"/>
                        </a:rPr>
                        <a:t>Logistic Regression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9B2121"/>
                          </a:solidFill>
                          <a:latin typeface="Poppins"/>
                          <a:ea typeface="Poppins"/>
                          <a:cs typeface="Poppins"/>
                          <a:sym typeface="Poppins"/>
                        </a:rPr>
                        <a:t>0.601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9B2121"/>
                          </a:solidFill>
                          <a:latin typeface="Poppins"/>
                          <a:ea typeface="Poppins"/>
                          <a:cs typeface="Poppins"/>
                          <a:sym typeface="Poppins"/>
                        </a:rPr>
                        <a:t>0.880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9B2121"/>
                          </a:solidFill>
                          <a:latin typeface="Poppins"/>
                          <a:ea typeface="Poppins"/>
                          <a:cs typeface="Poppins"/>
                          <a:sym typeface="Poppins"/>
                        </a:rPr>
                        <a:t>0.600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9B2121"/>
                          </a:solidFill>
                          <a:latin typeface="Poppins"/>
                          <a:ea typeface="Poppins"/>
                          <a:cs typeface="Poppins"/>
                          <a:sym typeface="Poppins"/>
                        </a:rPr>
                        <a:t>0.690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9B2121"/>
                          </a:solidFill>
                          <a:latin typeface="Poppins"/>
                          <a:ea typeface="Poppins"/>
                          <a:cs typeface="Poppins"/>
                          <a:sym typeface="Poppins"/>
                        </a:rPr>
                        <a:t>0.650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9B2121"/>
                          </a:solidFill>
                          <a:latin typeface="Poppins"/>
                          <a:ea typeface="Poppins"/>
                          <a:cs typeface="Poppins"/>
                          <a:sym typeface="Poppins"/>
                        </a:rPr>
                        <a:t>0.120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75403">
                <a:tc>
                  <a:txBody>
                    <a:bodyPr anchor="t" rtlCol="false"/>
                    <a:lstStyle/>
                    <a:p>
                      <a:pPr algn="ctr">
                        <a:lnSpc>
                          <a:spcPts val="3640"/>
                        </a:lnSpc>
                        <a:defRPr/>
                      </a:pPr>
                      <a:r>
                        <a:rPr lang="en-US" sz="2600">
                          <a:solidFill>
                            <a:srgbClr val="9B2121"/>
                          </a:solidFill>
                          <a:latin typeface="Poppins"/>
                          <a:ea typeface="Poppins"/>
                          <a:cs typeface="Poppins"/>
                          <a:sym typeface="Poppins"/>
                        </a:rPr>
                        <a:t>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9B2121"/>
                          </a:solidFill>
                          <a:latin typeface="Poppins"/>
                          <a:ea typeface="Poppins"/>
                          <a:cs typeface="Poppins"/>
                          <a:sym typeface="Poppins"/>
                        </a:rPr>
                        <a:t>Random Forest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9B2121"/>
                          </a:solidFill>
                          <a:latin typeface="Poppins"/>
                          <a:ea typeface="Poppins"/>
                          <a:cs typeface="Poppins"/>
                          <a:sym typeface="Poppins"/>
                        </a:rPr>
                        <a:t>0.910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9B2121"/>
                          </a:solidFill>
                          <a:latin typeface="Poppins"/>
                          <a:ea typeface="Poppins"/>
                          <a:cs typeface="Poppins"/>
                          <a:sym typeface="Poppins"/>
                        </a:rPr>
                        <a:t>0.860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9B2121"/>
                          </a:solidFill>
                          <a:latin typeface="Poppins"/>
                          <a:ea typeface="Poppins"/>
                          <a:cs typeface="Poppins"/>
                          <a:sym typeface="Poppins"/>
                        </a:rPr>
                        <a:t>0.910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9B2121"/>
                          </a:solidFill>
                          <a:latin typeface="Poppins"/>
                          <a:ea typeface="Poppins"/>
                          <a:cs typeface="Poppins"/>
                          <a:sym typeface="Poppins"/>
                        </a:rPr>
                        <a:t>0.880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9B2121"/>
                          </a:solidFill>
                          <a:latin typeface="Poppins"/>
                          <a:ea typeface="Poppins"/>
                          <a:cs typeface="Poppins"/>
                          <a:sym typeface="Poppins"/>
                        </a:rPr>
                        <a:t>0.610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9B2121"/>
                          </a:solidFill>
                          <a:latin typeface="Poppins"/>
                          <a:ea typeface="Poppins"/>
                          <a:cs typeface="Poppins"/>
                          <a:sym typeface="Poppins"/>
                        </a:rPr>
                        <a:t>0.024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536290">
                <a:tc>
                  <a:txBody>
                    <a:bodyPr anchor="t" rtlCol="false"/>
                    <a:lstStyle/>
                    <a:p>
                      <a:pPr algn="ctr">
                        <a:lnSpc>
                          <a:spcPts val="3640"/>
                        </a:lnSpc>
                        <a:defRPr/>
                      </a:pPr>
                      <a:r>
                        <a:rPr lang="en-US" sz="2600">
                          <a:solidFill>
                            <a:srgbClr val="9B2121"/>
                          </a:solidFill>
                          <a:latin typeface="Poppins"/>
                          <a:ea typeface="Poppins"/>
                          <a:cs typeface="Poppins"/>
                          <a:sym typeface="Poppins"/>
                        </a:rPr>
                        <a:t>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9B2121"/>
                          </a:solidFill>
                          <a:latin typeface="Poppins"/>
                          <a:ea typeface="Poppins"/>
                          <a:cs typeface="Poppins"/>
                          <a:sym typeface="Poppins"/>
                        </a:rPr>
                        <a:t>Extreme Gradient Boosting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9B2121"/>
                          </a:solidFill>
                          <a:latin typeface="Poppins"/>
                          <a:ea typeface="Poppins"/>
                          <a:cs typeface="Poppins"/>
                          <a:sym typeface="Poppins"/>
                        </a:rPr>
                        <a:t>0.912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9B2121"/>
                          </a:solidFill>
                          <a:latin typeface="Poppins"/>
                          <a:ea typeface="Poppins"/>
                          <a:cs typeface="Poppins"/>
                          <a:sym typeface="Poppins"/>
                        </a:rPr>
                        <a:t>0.860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9B2121"/>
                          </a:solidFill>
                          <a:latin typeface="Poppins"/>
                          <a:ea typeface="Poppins"/>
                          <a:cs typeface="Poppins"/>
                          <a:sym typeface="Poppins"/>
                        </a:rPr>
                        <a:t>0.910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9B2121"/>
                          </a:solidFill>
                          <a:latin typeface="Poppins"/>
                          <a:ea typeface="Poppins"/>
                          <a:cs typeface="Poppins"/>
                          <a:sym typeface="Poppins"/>
                        </a:rPr>
                        <a:t>0.880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9B2121"/>
                          </a:solidFill>
                          <a:latin typeface="Poppins"/>
                          <a:ea typeface="Poppins"/>
                          <a:cs typeface="Poppins"/>
                          <a:sym typeface="Poppins"/>
                        </a:rPr>
                        <a:t>0.613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640"/>
                        </a:lnSpc>
                        <a:defRPr/>
                      </a:pPr>
                      <a:r>
                        <a:rPr lang="en-US" sz="2600">
                          <a:solidFill>
                            <a:srgbClr val="9B2121"/>
                          </a:solidFill>
                          <a:latin typeface="Poppins"/>
                          <a:ea typeface="Poppins"/>
                          <a:cs typeface="Poppins"/>
                          <a:sym typeface="Poppins"/>
                        </a:rPr>
                        <a:t>0.022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4413839" y="1171575"/>
            <a:ext cx="9534662" cy="1069976"/>
          </a:xfrm>
          <a:prstGeom prst="rect">
            <a:avLst/>
          </a:prstGeom>
        </p:spPr>
        <p:txBody>
          <a:bodyPr anchor="t" rtlCol="false" tIns="0" lIns="0" bIns="0" rIns="0">
            <a:spAutoFit/>
          </a:bodyPr>
          <a:lstStyle/>
          <a:p>
            <a:pPr algn="ctr">
              <a:lnSpc>
                <a:spcPts val="8000"/>
              </a:lnSpc>
            </a:pPr>
            <a:r>
              <a:rPr lang="en-US" sz="8000">
                <a:solidFill>
                  <a:srgbClr val="9B2121"/>
                </a:solidFill>
                <a:latin typeface="Open Sauce"/>
                <a:ea typeface="Open Sauce"/>
                <a:cs typeface="Open Sauce"/>
                <a:sym typeface="Open Sauce"/>
              </a:rPr>
              <a:t>Data Modelling</a:t>
            </a:r>
          </a:p>
        </p:txBody>
      </p:sp>
      <p:sp>
        <p:nvSpPr>
          <p:cNvPr name="TextBox 5" id="5"/>
          <p:cNvSpPr txBox="true"/>
          <p:nvPr/>
        </p:nvSpPr>
        <p:spPr>
          <a:xfrm rot="0">
            <a:off x="1028700" y="7879964"/>
            <a:ext cx="16188498" cy="2148205"/>
          </a:xfrm>
          <a:prstGeom prst="rect">
            <a:avLst/>
          </a:prstGeom>
        </p:spPr>
        <p:txBody>
          <a:bodyPr anchor="t" rtlCol="false" tIns="0" lIns="0" bIns="0" rIns="0">
            <a:spAutoFit/>
          </a:bodyPr>
          <a:lstStyle/>
          <a:p>
            <a:pPr algn="just">
              <a:lnSpc>
                <a:spcPts val="3379"/>
              </a:lnSpc>
            </a:pPr>
            <a:r>
              <a:rPr lang="en-US" sz="2599">
                <a:solidFill>
                  <a:srgbClr val="9B2121"/>
                </a:solidFill>
                <a:latin typeface="Poppins"/>
                <a:ea typeface="Poppins"/>
                <a:cs typeface="Poppins"/>
                <a:sym typeface="Poppins"/>
              </a:rPr>
              <a:t>Berdasarkan hasil evaluasi, Random Forest lebih direkomendasikan untuk prediksi risiko gagal bayar pinjaman di Home Credit Indonesia. Meskipun XGBoost menunjukkan sedikit keunggulan dalam AUC-ROC dan MCC, Random Forest memiliki keunggulan dalam interpretabilitas model, recall yang lebih baik pada kelas minoritas, serta efisiensi waktu pelatihan dan penggunaan sumber daya komputasi, menjadikannya pilihan yang lebih praktis.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1028700" y="2937704"/>
            <a:ext cx="16230600" cy="6320596"/>
            <a:chOff x="0" y="0"/>
            <a:chExt cx="4274726" cy="1664684"/>
          </a:xfrm>
        </p:grpSpPr>
        <p:sp>
          <p:nvSpPr>
            <p:cNvPr name="Freeform 4" id="4"/>
            <p:cNvSpPr/>
            <p:nvPr/>
          </p:nvSpPr>
          <p:spPr>
            <a:xfrm flipH="false" flipV="false" rot="0">
              <a:off x="0" y="0"/>
              <a:ext cx="4274726" cy="1664684"/>
            </a:xfrm>
            <a:custGeom>
              <a:avLst/>
              <a:gdLst/>
              <a:ahLst/>
              <a:cxnLst/>
              <a:rect r="r" b="b" t="t" l="l"/>
              <a:pathLst>
                <a:path h="1664684" w="4274726">
                  <a:moveTo>
                    <a:pt x="14310" y="0"/>
                  </a:moveTo>
                  <a:lnTo>
                    <a:pt x="4260416" y="0"/>
                  </a:lnTo>
                  <a:cubicBezTo>
                    <a:pt x="4264211" y="0"/>
                    <a:pt x="4267851" y="1508"/>
                    <a:pt x="4270535" y="4191"/>
                  </a:cubicBezTo>
                  <a:cubicBezTo>
                    <a:pt x="4273218" y="6875"/>
                    <a:pt x="4274726" y="10515"/>
                    <a:pt x="4274726" y="14310"/>
                  </a:cubicBezTo>
                  <a:lnTo>
                    <a:pt x="4274726" y="1650374"/>
                  </a:lnTo>
                  <a:cubicBezTo>
                    <a:pt x="4274726" y="1654169"/>
                    <a:pt x="4273218" y="1657809"/>
                    <a:pt x="4270535" y="1660492"/>
                  </a:cubicBezTo>
                  <a:cubicBezTo>
                    <a:pt x="4267851" y="1663176"/>
                    <a:pt x="4264211" y="1664684"/>
                    <a:pt x="4260416" y="1664684"/>
                  </a:cubicBezTo>
                  <a:lnTo>
                    <a:pt x="14310" y="1664684"/>
                  </a:lnTo>
                  <a:cubicBezTo>
                    <a:pt x="10515" y="1664684"/>
                    <a:pt x="6875" y="1663176"/>
                    <a:pt x="4191" y="1660492"/>
                  </a:cubicBezTo>
                  <a:cubicBezTo>
                    <a:pt x="1508" y="1657809"/>
                    <a:pt x="0" y="1654169"/>
                    <a:pt x="0" y="1650374"/>
                  </a:cubicBezTo>
                  <a:lnTo>
                    <a:pt x="0" y="14310"/>
                  </a:lnTo>
                  <a:cubicBezTo>
                    <a:pt x="0" y="10515"/>
                    <a:pt x="1508" y="6875"/>
                    <a:pt x="4191" y="4191"/>
                  </a:cubicBezTo>
                  <a:cubicBezTo>
                    <a:pt x="6875" y="1508"/>
                    <a:pt x="10515" y="0"/>
                    <a:pt x="14310" y="0"/>
                  </a:cubicBezTo>
                  <a:close/>
                </a:path>
              </a:pathLst>
            </a:custGeom>
            <a:solidFill>
              <a:srgbClr val="9B2121"/>
            </a:solidFill>
            <a:ln w="38100" cap="rnd">
              <a:solidFill>
                <a:srgbClr val="9B2121"/>
              </a:solidFill>
              <a:prstDash val="solid"/>
              <a:round/>
            </a:ln>
          </p:spPr>
        </p:sp>
        <p:sp>
          <p:nvSpPr>
            <p:cNvPr name="TextBox 5" id="5"/>
            <p:cNvSpPr txBox="true"/>
            <p:nvPr/>
          </p:nvSpPr>
          <p:spPr>
            <a:xfrm>
              <a:off x="0" y="-47625"/>
              <a:ext cx="4274726" cy="1712309"/>
            </a:xfrm>
            <a:prstGeom prst="rect">
              <a:avLst/>
            </a:prstGeom>
          </p:spPr>
          <p:txBody>
            <a:bodyPr anchor="ctr" rtlCol="false" tIns="50800" lIns="50800" bIns="50800" rIns="50800"/>
            <a:lstStyle/>
            <a:p>
              <a:pPr algn="ctr">
                <a:lnSpc>
                  <a:spcPts val="3120"/>
                </a:lnSpc>
              </a:pPr>
            </a:p>
          </p:txBody>
        </p:sp>
      </p:grpSp>
      <p:sp>
        <p:nvSpPr>
          <p:cNvPr name="TextBox 6" id="6"/>
          <p:cNvSpPr txBox="true"/>
          <p:nvPr/>
        </p:nvSpPr>
        <p:spPr>
          <a:xfrm rot="0">
            <a:off x="2011327" y="7382713"/>
            <a:ext cx="14475455" cy="407670"/>
          </a:xfrm>
          <a:prstGeom prst="rect">
            <a:avLst/>
          </a:prstGeom>
        </p:spPr>
        <p:txBody>
          <a:bodyPr anchor="t" rtlCol="false" tIns="0" lIns="0" bIns="0" rIns="0">
            <a:spAutoFit/>
          </a:bodyPr>
          <a:lstStyle/>
          <a:p>
            <a:pPr algn="just">
              <a:lnSpc>
                <a:spcPts val="3120"/>
              </a:lnSpc>
            </a:pPr>
            <a:r>
              <a:rPr lang="en-US" sz="2400" b="true">
                <a:solidFill>
                  <a:srgbClr val="FFFFFF"/>
                </a:solidFill>
                <a:latin typeface="Poppins Bold"/>
                <a:ea typeface="Poppins Bold"/>
                <a:cs typeface="Poppins Bold"/>
                <a:sym typeface="Poppins Bold"/>
              </a:rPr>
              <a:t>3. Pemantauan dan Penyesuaian Berkala</a:t>
            </a:r>
          </a:p>
        </p:txBody>
      </p:sp>
      <p:sp>
        <p:nvSpPr>
          <p:cNvPr name="TextBox 7" id="7"/>
          <p:cNvSpPr txBox="true"/>
          <p:nvPr/>
        </p:nvSpPr>
        <p:spPr>
          <a:xfrm rot="0">
            <a:off x="3136250" y="1171575"/>
            <a:ext cx="12015501" cy="1069976"/>
          </a:xfrm>
          <a:prstGeom prst="rect">
            <a:avLst/>
          </a:prstGeom>
        </p:spPr>
        <p:txBody>
          <a:bodyPr anchor="t" rtlCol="false" tIns="0" lIns="0" bIns="0" rIns="0">
            <a:spAutoFit/>
          </a:bodyPr>
          <a:lstStyle/>
          <a:p>
            <a:pPr algn="ctr">
              <a:lnSpc>
                <a:spcPts val="8000"/>
              </a:lnSpc>
            </a:pPr>
            <a:r>
              <a:rPr lang="en-US" sz="8000">
                <a:solidFill>
                  <a:srgbClr val="9B2121"/>
                </a:solidFill>
                <a:latin typeface="Open Sauce"/>
                <a:ea typeface="Open Sauce"/>
                <a:cs typeface="Open Sauce"/>
                <a:sym typeface="Open Sauce"/>
              </a:rPr>
              <a:t>Saran untuk Perusahaan</a:t>
            </a:r>
          </a:p>
        </p:txBody>
      </p:sp>
      <p:sp>
        <p:nvSpPr>
          <p:cNvPr name="TextBox 8" id="8"/>
          <p:cNvSpPr txBox="true"/>
          <p:nvPr/>
        </p:nvSpPr>
        <p:spPr>
          <a:xfrm rot="0">
            <a:off x="1839318" y="3463749"/>
            <a:ext cx="14609365" cy="656591"/>
          </a:xfrm>
          <a:prstGeom prst="rect">
            <a:avLst/>
          </a:prstGeom>
        </p:spPr>
        <p:txBody>
          <a:bodyPr anchor="t" rtlCol="false" tIns="0" lIns="0" bIns="0" rIns="0">
            <a:spAutoFit/>
          </a:bodyPr>
          <a:lstStyle/>
          <a:p>
            <a:pPr algn="just">
              <a:lnSpc>
                <a:spcPts val="2600"/>
              </a:lnSpc>
            </a:pPr>
            <a:r>
              <a:rPr lang="en-US" sz="2600" b="true">
                <a:solidFill>
                  <a:srgbClr val="FFFFFF"/>
                </a:solidFill>
                <a:latin typeface="Open Sauce Bold"/>
                <a:ea typeface="Open Sauce Bold"/>
                <a:cs typeface="Open Sauce Bold"/>
                <a:sym typeface="Open Sauce Bold"/>
              </a:rPr>
              <a:t>Berdasarkan analisis, berikut beberapa saran untuk mengoptimalkan prediksi dan pengambilan keputusan terkait risiko gagal bayar pinjaman di Home Credit Indonesia:</a:t>
            </a:r>
          </a:p>
        </p:txBody>
      </p:sp>
      <p:sp>
        <p:nvSpPr>
          <p:cNvPr name="TextBox 9" id="9"/>
          <p:cNvSpPr txBox="true"/>
          <p:nvPr/>
        </p:nvSpPr>
        <p:spPr>
          <a:xfrm rot="0">
            <a:off x="2364536" y="4580246"/>
            <a:ext cx="14222722" cy="1188720"/>
          </a:xfrm>
          <a:prstGeom prst="rect">
            <a:avLst/>
          </a:prstGeom>
        </p:spPr>
        <p:txBody>
          <a:bodyPr anchor="t" rtlCol="false" tIns="0" lIns="0" bIns="0" rIns="0">
            <a:spAutoFit/>
          </a:bodyPr>
          <a:lstStyle/>
          <a:p>
            <a:pPr algn="just">
              <a:lnSpc>
                <a:spcPts val="3120"/>
              </a:lnSpc>
              <a:spcBef>
                <a:spcPct val="0"/>
              </a:spcBef>
            </a:pPr>
            <a:r>
              <a:rPr lang="en-US" sz="2400">
                <a:solidFill>
                  <a:srgbClr val="FFFFFF"/>
                </a:solidFill>
                <a:latin typeface="Poppins"/>
                <a:ea typeface="Poppins"/>
                <a:cs typeface="Poppins"/>
                <a:sym typeface="Poppins"/>
              </a:rPr>
              <a:t>Ting</a:t>
            </a:r>
            <a:r>
              <a:rPr lang="en-US" sz="2400">
                <a:solidFill>
                  <a:srgbClr val="FFFFFF"/>
                </a:solidFill>
                <a:latin typeface="Poppins"/>
                <a:ea typeface="Poppins"/>
                <a:cs typeface="Poppins"/>
                <a:sym typeface="Poppins"/>
              </a:rPr>
              <a:t>katkan pemahaman tentang faktor-faktor risiko yang mempengaruhi kemampuan pemohon dalam membayar pinjaman. Hal ini akan membantu dalam menyaring pemohon yang lebih berisiko secara lebih akurat dan mengurangi kerugian.</a:t>
            </a:r>
          </a:p>
        </p:txBody>
      </p:sp>
      <p:sp>
        <p:nvSpPr>
          <p:cNvPr name="TextBox 10" id="10"/>
          <p:cNvSpPr txBox="true"/>
          <p:nvPr/>
        </p:nvSpPr>
        <p:spPr>
          <a:xfrm rot="0">
            <a:off x="1839318" y="4220201"/>
            <a:ext cx="14475455" cy="407670"/>
          </a:xfrm>
          <a:prstGeom prst="rect">
            <a:avLst/>
          </a:prstGeom>
        </p:spPr>
        <p:txBody>
          <a:bodyPr anchor="t" rtlCol="false" tIns="0" lIns="0" bIns="0" rIns="0">
            <a:spAutoFit/>
          </a:bodyPr>
          <a:lstStyle/>
          <a:p>
            <a:pPr algn="just" marL="518160" indent="-259080" lvl="1">
              <a:lnSpc>
                <a:spcPts val="3120"/>
              </a:lnSpc>
              <a:buAutoNum type="arabicPeriod" startAt="1"/>
            </a:pPr>
            <a:r>
              <a:rPr lang="en-US" b="true" sz="2400">
                <a:solidFill>
                  <a:srgbClr val="FFFFFF"/>
                </a:solidFill>
                <a:latin typeface="Poppins Bold"/>
                <a:ea typeface="Poppins Bold"/>
                <a:cs typeface="Poppins Bold"/>
                <a:sym typeface="Poppins Bold"/>
              </a:rPr>
              <a:t>Fokus pada Pengelolaan Risiko Kredit</a:t>
            </a:r>
          </a:p>
        </p:txBody>
      </p:sp>
      <p:sp>
        <p:nvSpPr>
          <p:cNvPr name="TextBox 11" id="11"/>
          <p:cNvSpPr txBox="true"/>
          <p:nvPr/>
        </p:nvSpPr>
        <p:spPr>
          <a:xfrm rot="0">
            <a:off x="2364536" y="6146368"/>
            <a:ext cx="14222722" cy="1188720"/>
          </a:xfrm>
          <a:prstGeom prst="rect">
            <a:avLst/>
          </a:prstGeom>
        </p:spPr>
        <p:txBody>
          <a:bodyPr anchor="t" rtlCol="false" tIns="0" lIns="0" bIns="0" rIns="0">
            <a:spAutoFit/>
          </a:bodyPr>
          <a:lstStyle/>
          <a:p>
            <a:pPr algn="just">
              <a:lnSpc>
                <a:spcPts val="3120"/>
              </a:lnSpc>
              <a:spcBef>
                <a:spcPct val="0"/>
              </a:spcBef>
            </a:pPr>
            <a:r>
              <a:rPr lang="en-US" sz="2400">
                <a:solidFill>
                  <a:srgbClr val="FFFFFF"/>
                </a:solidFill>
                <a:latin typeface="Poppins"/>
                <a:ea typeface="Poppins"/>
                <a:cs typeface="Poppins"/>
                <a:sym typeface="Poppins"/>
              </a:rPr>
              <a:t>Gun</a:t>
            </a:r>
            <a:r>
              <a:rPr lang="en-US" sz="2400">
                <a:solidFill>
                  <a:srgbClr val="FFFFFF"/>
                </a:solidFill>
                <a:latin typeface="Poppins"/>
                <a:ea typeface="Poppins"/>
                <a:cs typeface="Poppins"/>
                <a:sym typeface="Poppins"/>
              </a:rPr>
              <a:t>akan hasil model prediksi untuk menyempurnakan kebijakan kredit dan strategi pemasaran, seperti menawarkan produk pinjaman dengan syarat yang lebih sesuai untuk pemohon dengan profil risiko tertentu.</a:t>
            </a:r>
          </a:p>
        </p:txBody>
      </p:sp>
      <p:sp>
        <p:nvSpPr>
          <p:cNvPr name="TextBox 12" id="12"/>
          <p:cNvSpPr txBox="true"/>
          <p:nvPr/>
        </p:nvSpPr>
        <p:spPr>
          <a:xfrm rot="0">
            <a:off x="2054653" y="5795848"/>
            <a:ext cx="14475455" cy="407670"/>
          </a:xfrm>
          <a:prstGeom prst="rect">
            <a:avLst/>
          </a:prstGeom>
        </p:spPr>
        <p:txBody>
          <a:bodyPr anchor="t" rtlCol="false" tIns="0" lIns="0" bIns="0" rIns="0">
            <a:spAutoFit/>
          </a:bodyPr>
          <a:lstStyle/>
          <a:p>
            <a:pPr algn="just">
              <a:lnSpc>
                <a:spcPts val="3120"/>
              </a:lnSpc>
            </a:pPr>
            <a:r>
              <a:rPr lang="en-US" sz="2400">
                <a:solidFill>
                  <a:srgbClr val="FFFFFF"/>
                </a:solidFill>
                <a:latin typeface="Poppins"/>
                <a:ea typeface="Poppins"/>
                <a:cs typeface="Poppins"/>
                <a:sym typeface="Poppins"/>
              </a:rPr>
              <a:t>2. </a:t>
            </a:r>
            <a:r>
              <a:rPr lang="en-US" sz="2400" b="true">
                <a:solidFill>
                  <a:srgbClr val="FFFFFF"/>
                </a:solidFill>
                <a:latin typeface="Poppins Bold"/>
                <a:ea typeface="Poppins Bold"/>
                <a:cs typeface="Poppins Bold"/>
                <a:sym typeface="Poppins Bold"/>
              </a:rPr>
              <a:t>Peningkatan Pengambilan Keputusan Bisnis</a:t>
            </a:r>
          </a:p>
        </p:txBody>
      </p:sp>
      <p:sp>
        <p:nvSpPr>
          <p:cNvPr name="TextBox 13" id="13"/>
          <p:cNvSpPr txBox="true"/>
          <p:nvPr/>
        </p:nvSpPr>
        <p:spPr>
          <a:xfrm rot="0">
            <a:off x="2364536" y="7714183"/>
            <a:ext cx="14222722" cy="1188720"/>
          </a:xfrm>
          <a:prstGeom prst="rect">
            <a:avLst/>
          </a:prstGeom>
        </p:spPr>
        <p:txBody>
          <a:bodyPr anchor="t" rtlCol="false" tIns="0" lIns="0" bIns="0" rIns="0">
            <a:spAutoFit/>
          </a:bodyPr>
          <a:lstStyle/>
          <a:p>
            <a:pPr algn="just">
              <a:lnSpc>
                <a:spcPts val="3120"/>
              </a:lnSpc>
              <a:spcBef>
                <a:spcPct val="0"/>
              </a:spcBef>
            </a:pPr>
            <a:r>
              <a:rPr lang="en-US" sz="2400">
                <a:solidFill>
                  <a:srgbClr val="FFFFFF"/>
                </a:solidFill>
                <a:latin typeface="Poppins"/>
                <a:ea typeface="Poppins"/>
                <a:cs typeface="Poppins"/>
                <a:sym typeface="Poppins"/>
              </a:rPr>
              <a:t>Laku</a:t>
            </a:r>
            <a:r>
              <a:rPr lang="en-US" sz="2400">
                <a:solidFill>
                  <a:srgbClr val="FFFFFF"/>
                </a:solidFill>
                <a:latin typeface="Poppins"/>
                <a:ea typeface="Poppins"/>
                <a:cs typeface="Poppins"/>
                <a:sym typeface="Poppins"/>
              </a:rPr>
              <a:t>kan pemantauan terhadap perubahan tren pasar dan perilaku pemohon pinjaman secara berkala, untuk memastikan model tetap relevan dan efektif dalam mendukung keputusan pinjaman yang lebih tepat.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DAGmT2nu_As</dc:identifier>
  <dcterms:modified xsi:type="dcterms:W3CDTF">2011-08-01T06:04:30Z</dcterms:modified>
  <cp:revision>1</cp:revision>
  <dc:title>Red White Professional Simple Finance Presentation</dc:title>
</cp:coreProperties>
</file>